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Helios Extended Bold" charset="1" panose="02000805050000020004"/>
      <p:regular r:id="rId13"/>
    </p:embeddedFont>
    <p:embeddedFont>
      <p:font typeface="TT Runs" charset="1" panose="02000000000000000607"/>
      <p:regular r:id="rId14"/>
    </p:embeddedFont>
    <p:embeddedFont>
      <p:font typeface="Canva Sans" charset="1" panose="020B0503030501040103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http://www.xinzex.com" TargetMode="External" Type="http://schemas.openxmlformats.org/officeDocument/2006/relationships/hyperlink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https://xinzex.com/custom-on-demand-app-development-services-in-usa/" TargetMode="External" Type="http://schemas.openxmlformats.org/officeDocument/2006/relationships/hyperlink"/><Relationship Id="rId6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https://xinzex.com/custom-on-demand-app-development-services-in-usa/" TargetMode="External" Type="http://schemas.openxmlformats.org/officeDocument/2006/relationships/hyperlink"/><Relationship Id="rId4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Relationship Id="rId7" Target="https://xinzex.com/custom-on-demand-app-development-services-in-usa/" TargetMode="External" Type="http://schemas.openxmlformats.org/officeDocument/2006/relationships/hyperlink"/><Relationship Id="rId8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https://xinzex.com/custom-on-demand-app-development-services-in-usa/" TargetMode="External" Type="http://schemas.openxmlformats.org/officeDocument/2006/relationships/hyperlink"/><Relationship Id="rId4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tel:+18889101010" TargetMode="External" Type="http://schemas.openxmlformats.org/officeDocument/2006/relationships/hyperlink"/><Relationship Id="rId3" Target="http://www.xinzex.com" TargetMode="External" Type="http://schemas.openxmlformats.org/officeDocument/2006/relationships/hyperlink"/><Relationship Id="rId4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97843" y="3898900"/>
            <a:ext cx="12292313" cy="261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9"/>
              </a:lnSpc>
            </a:pPr>
            <a:r>
              <a:rPr lang="en-US" b="true" sz="6999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CUSTOM ON DEMAND APP DEVELOPMENT SERVICES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1427910" cy="142791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7AD">
                    <a:alpha val="100000"/>
                  </a:srgbClr>
                </a:gs>
                <a:gs pos="100000">
                  <a:srgbClr val="FFA9F9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6382035" y="8512447"/>
            <a:ext cx="877265" cy="87726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7AD">
                    <a:alpha val="100000"/>
                  </a:srgbClr>
                </a:gs>
                <a:gs pos="100000">
                  <a:srgbClr val="FFA9F9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5397573" y="-1438232"/>
            <a:ext cx="4111140" cy="4111140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7AD">
                    <a:alpha val="100000"/>
                  </a:srgbClr>
                </a:gs>
                <a:gs pos="100000">
                  <a:srgbClr val="FFA9F9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93101" y="8512447"/>
            <a:ext cx="4556571" cy="4556571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gradFill>
                <a:gsLst>
                  <a:gs pos="0">
                    <a:srgbClr val="FFF7AD">
                      <a:alpha val="100000"/>
                    </a:srgbClr>
                  </a:gs>
                  <a:gs pos="100000">
                    <a:srgbClr val="FFA9F9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929965" y="8512447"/>
            <a:ext cx="626973" cy="626973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7AD">
                    <a:alpha val="100000"/>
                  </a:srgbClr>
                </a:gs>
                <a:gs pos="100000">
                  <a:srgbClr val="FFA9F9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5999688" y="0"/>
            <a:ext cx="2057904" cy="1074683"/>
          </a:xfrm>
          <a:custGeom>
            <a:avLst/>
            <a:gdLst/>
            <a:ahLst/>
            <a:cxnLst/>
            <a:rect r="r" b="b" t="t" l="l"/>
            <a:pathLst>
              <a:path h="1074683" w="2057904">
                <a:moveTo>
                  <a:pt x="0" y="0"/>
                </a:moveTo>
                <a:lnTo>
                  <a:pt x="2057904" y="0"/>
                </a:lnTo>
                <a:lnTo>
                  <a:pt x="2057904" y="1074683"/>
                </a:lnTo>
                <a:lnTo>
                  <a:pt x="0" y="10746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7132437" y="9098822"/>
            <a:ext cx="4023125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</a:pPr>
            <a:r>
              <a:rPr lang="en-US" sz="1799">
                <a:solidFill>
                  <a:srgbClr val="000000"/>
                </a:solidFill>
                <a:latin typeface="TT Runs"/>
                <a:ea typeface="TT Runs"/>
                <a:cs typeface="TT Runs"/>
                <a:sym typeface="TT Runs"/>
                <a:hlinkClick r:id="rId3" tooltip="http://www.xinzex.com"/>
              </a:rPr>
              <a:t>WWW.XINZEX.COM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596507" y="1027058"/>
            <a:ext cx="9094985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sz="2099">
                <a:solidFill>
                  <a:srgbClr val="000000"/>
                </a:solidFill>
                <a:latin typeface="TT Runs"/>
                <a:ea typeface="TT Runs"/>
                <a:cs typeface="TT Runs"/>
                <a:sym typeface="TT Runs"/>
              </a:rPr>
              <a:t>Elevate Your Brand and Business with Our Mobile Technology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45315" y="2829917"/>
            <a:ext cx="8640962" cy="8640962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7AD">
                    <a:alpha val="100000"/>
                  </a:srgbClr>
                </a:gs>
                <a:gs pos="100000">
                  <a:srgbClr val="FFA9F9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2289911" y="1142130"/>
            <a:ext cx="3896697" cy="7793395"/>
            <a:chOff x="0" y="0"/>
            <a:chExt cx="3175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17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3175000">
                  <a:moveTo>
                    <a:pt x="2667000" y="6350000"/>
                  </a:moveTo>
                  <a:lnTo>
                    <a:pt x="508000" y="6350000"/>
                  </a:lnTo>
                  <a:cubicBezTo>
                    <a:pt x="227330" y="6350000"/>
                    <a:pt x="0" y="6122670"/>
                    <a:pt x="0" y="5842000"/>
                  </a:cubicBezTo>
                  <a:lnTo>
                    <a:pt x="0" y="508000"/>
                  </a:lnTo>
                  <a:cubicBezTo>
                    <a:pt x="0" y="227330"/>
                    <a:pt x="227330" y="0"/>
                    <a:pt x="508000" y="0"/>
                  </a:cubicBezTo>
                  <a:lnTo>
                    <a:pt x="2667000" y="0"/>
                  </a:lnTo>
                  <a:cubicBezTo>
                    <a:pt x="2947670" y="0"/>
                    <a:pt x="3175000" y="227330"/>
                    <a:pt x="3175000" y="508000"/>
                  </a:cubicBezTo>
                  <a:lnTo>
                    <a:pt x="3175000" y="5842000"/>
                  </a:lnTo>
                  <a:cubicBezTo>
                    <a:pt x="3175000" y="6122670"/>
                    <a:pt x="2947670" y="6350000"/>
                    <a:pt x="2667000" y="6350000"/>
                  </a:cubicBezTo>
                  <a:close/>
                </a:path>
              </a:pathLst>
            </a:custGeom>
            <a:solidFill>
              <a:srgbClr val="FFFAF0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17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3175000">
                  <a:moveTo>
                    <a:pt x="2667000" y="19050"/>
                  </a:moveTo>
                  <a:cubicBezTo>
                    <a:pt x="2936240" y="19050"/>
                    <a:pt x="3155950" y="238760"/>
                    <a:pt x="3155950" y="508000"/>
                  </a:cubicBezTo>
                  <a:lnTo>
                    <a:pt x="3155950" y="5842000"/>
                  </a:lnTo>
                  <a:cubicBezTo>
                    <a:pt x="3155950" y="6111240"/>
                    <a:pt x="2936240" y="6330950"/>
                    <a:pt x="2667000" y="6330950"/>
                  </a:cubicBezTo>
                  <a:lnTo>
                    <a:pt x="508000" y="6330950"/>
                  </a:lnTo>
                  <a:cubicBezTo>
                    <a:pt x="238760" y="6330950"/>
                    <a:pt x="19050" y="6111240"/>
                    <a:pt x="19050" y="5842000"/>
                  </a:cubicBezTo>
                  <a:lnTo>
                    <a:pt x="19050" y="508000"/>
                  </a:lnTo>
                  <a:cubicBezTo>
                    <a:pt x="19050" y="238760"/>
                    <a:pt x="238760" y="19050"/>
                    <a:pt x="508000" y="19050"/>
                  </a:cubicBezTo>
                  <a:lnTo>
                    <a:pt x="2667000" y="19050"/>
                  </a:lnTo>
                  <a:moveTo>
                    <a:pt x="2667000" y="0"/>
                  </a:moveTo>
                  <a:lnTo>
                    <a:pt x="508000" y="0"/>
                  </a:lnTo>
                  <a:cubicBezTo>
                    <a:pt x="227330" y="0"/>
                    <a:pt x="0" y="227330"/>
                    <a:pt x="0" y="508000"/>
                  </a:cubicBezTo>
                  <a:lnTo>
                    <a:pt x="0" y="5842000"/>
                  </a:lnTo>
                  <a:cubicBezTo>
                    <a:pt x="0" y="6122670"/>
                    <a:pt x="227330" y="6350000"/>
                    <a:pt x="508000" y="6350000"/>
                  </a:cubicBezTo>
                  <a:lnTo>
                    <a:pt x="2667000" y="6350000"/>
                  </a:lnTo>
                  <a:cubicBezTo>
                    <a:pt x="2947670" y="6350000"/>
                    <a:pt x="3175000" y="6122670"/>
                    <a:pt x="3175000" y="5842000"/>
                  </a:cubicBezTo>
                  <a:lnTo>
                    <a:pt x="3175000" y="508000"/>
                  </a:lnTo>
                  <a:cubicBezTo>
                    <a:pt x="3175000" y="227330"/>
                    <a:pt x="2947670" y="0"/>
                    <a:pt x="2667000" y="0"/>
                  </a:cubicBezTo>
                  <a:lnTo>
                    <a:pt x="2667000" y="0"/>
                  </a:lnTo>
                  <a:close/>
                </a:path>
              </a:pathLst>
            </a:custGeom>
            <a:solidFill>
              <a:srgbClr val="CFCFCF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687084" y="1028700"/>
            <a:ext cx="5102352" cy="8229600"/>
          </a:xfrm>
          <a:custGeom>
            <a:avLst/>
            <a:gdLst/>
            <a:ahLst/>
            <a:cxnLst/>
            <a:rect r="r" b="b" t="t" l="l"/>
            <a:pathLst>
              <a:path h="8229600" w="5102352">
                <a:moveTo>
                  <a:pt x="0" y="0"/>
                </a:moveTo>
                <a:lnTo>
                  <a:pt x="5102352" y="0"/>
                </a:lnTo>
                <a:lnTo>
                  <a:pt x="510235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5397573" y="-1438232"/>
            <a:ext cx="4111140" cy="4111140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7AD">
                    <a:alpha val="100000"/>
                  </a:srgbClr>
                </a:gs>
                <a:gs pos="100000">
                  <a:srgbClr val="FFA9F9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85893" y="722011"/>
            <a:ext cx="798564" cy="798564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7AD">
                    <a:alpha val="100000"/>
                  </a:srgbClr>
                </a:gs>
                <a:gs pos="100000">
                  <a:srgbClr val="FFA9F9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3634703" y="4134985"/>
            <a:ext cx="1207114" cy="1243282"/>
          </a:xfrm>
          <a:custGeom>
            <a:avLst/>
            <a:gdLst/>
            <a:ahLst/>
            <a:cxnLst/>
            <a:rect r="r" b="b" t="t" l="l"/>
            <a:pathLst>
              <a:path h="1243282" w="1207114">
                <a:moveTo>
                  <a:pt x="0" y="0"/>
                </a:moveTo>
                <a:lnTo>
                  <a:pt x="1207114" y="0"/>
                </a:lnTo>
                <a:lnTo>
                  <a:pt x="1207114" y="1243281"/>
                </a:lnTo>
                <a:lnTo>
                  <a:pt x="0" y="12432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8707249" y="4304107"/>
            <a:ext cx="7821917" cy="3749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49"/>
              </a:lnSpc>
            </a:pPr>
            <a:r>
              <a:rPr lang="en-US" sz="239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Our </a:t>
            </a:r>
            <a:r>
              <a:rPr lang="en-US" sz="239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  <a:hlinkClick r:id="rId5" tooltip="https://xinzex.com/custom-on-demand-app-development-services-in-usa/"/>
              </a:rPr>
              <a:t>On Demand Mobile App Development Services</a:t>
            </a:r>
            <a:r>
              <a:rPr lang="en-US" sz="239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are designed to help startups and enterprises build powerful digital platforms that deliver instant services to users. </a:t>
            </a:r>
          </a:p>
          <a:p>
            <a:pPr algn="just">
              <a:lnSpc>
                <a:spcPts val="3349"/>
              </a:lnSpc>
            </a:pPr>
          </a:p>
          <a:p>
            <a:pPr algn="just">
              <a:lnSpc>
                <a:spcPts val="3349"/>
              </a:lnSpc>
            </a:pPr>
            <a:r>
              <a:rPr lang="en-US" sz="239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We create feature-rich, scalable mobile applications that prioritize performance, security, and user experience, enabling businesses to stay competitive in today’s fast-moving on-demand economy.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707249" y="1824090"/>
            <a:ext cx="6685915" cy="1933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4500" b="true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On-Demand Mobile App Development Services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188012" y="5593007"/>
            <a:ext cx="2100496" cy="349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3"/>
              </a:lnSpc>
            </a:pPr>
            <a:r>
              <a:rPr lang="en-US" sz="2294" b="true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XINZEX</a:t>
            </a:r>
          </a:p>
        </p:txBody>
      </p:sp>
      <p:grpSp>
        <p:nvGrpSpPr>
          <p:cNvPr name="Group 19" id="19"/>
          <p:cNvGrpSpPr/>
          <p:nvPr/>
        </p:nvGrpSpPr>
        <p:grpSpPr>
          <a:xfrm rot="-3187270">
            <a:off x="15397573" y="7884414"/>
            <a:ext cx="4556571" cy="4556571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gradFill>
                <a:gsLst>
                  <a:gs pos="0">
                    <a:srgbClr val="FFF7AD">
                      <a:alpha val="100000"/>
                    </a:srgbClr>
                  </a:gs>
                  <a:gs pos="100000">
                    <a:srgbClr val="FFA9F9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5999688" y="0"/>
            <a:ext cx="2057904" cy="1074683"/>
          </a:xfrm>
          <a:custGeom>
            <a:avLst/>
            <a:gdLst/>
            <a:ahLst/>
            <a:cxnLst/>
            <a:rect r="r" b="b" t="t" l="l"/>
            <a:pathLst>
              <a:path h="1074683" w="2057904">
                <a:moveTo>
                  <a:pt x="0" y="0"/>
                </a:moveTo>
                <a:lnTo>
                  <a:pt x="2057904" y="0"/>
                </a:lnTo>
                <a:lnTo>
                  <a:pt x="2057904" y="1074683"/>
                </a:lnTo>
                <a:lnTo>
                  <a:pt x="0" y="107468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950313" y="0"/>
            <a:ext cx="7337687" cy="10287000"/>
            <a:chOff x="0" y="0"/>
            <a:chExt cx="9783583" cy="13716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10847" t="0" r="41599" b="0"/>
            <a:stretch>
              <a:fillRect/>
            </a:stretch>
          </p:blipFill>
          <p:spPr>
            <a:xfrm flipH="false" flipV="false">
              <a:off x="0" y="0"/>
              <a:ext cx="9783583" cy="13716000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-3291781" y="-4961817"/>
            <a:ext cx="8640962" cy="8640962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7AD">
                    <a:alpha val="100000"/>
                  </a:srgbClr>
                </a:gs>
                <a:gs pos="100000">
                  <a:srgbClr val="FFA9F9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49747" y="8116242"/>
            <a:ext cx="1401131" cy="1401131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7AD">
                    <a:alpha val="100000"/>
                  </a:srgbClr>
                </a:gs>
                <a:gs pos="100000">
                  <a:srgbClr val="FFA9F9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786651" y="4443670"/>
            <a:ext cx="7821917" cy="3749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49"/>
              </a:lnSpc>
            </a:pPr>
            <a:r>
              <a:rPr lang="en-US" sz="239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  <a:hlinkClick r:id="rId3" tooltip="https://xinzex.com/custom-on-demand-app-development-services-in-usa/"/>
              </a:rPr>
              <a:t>On demand app development</a:t>
            </a:r>
            <a:r>
              <a:rPr lang="en-US" sz="239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focuses on building applications that connect users with products or services in real time. </a:t>
            </a:r>
          </a:p>
          <a:p>
            <a:pPr algn="just">
              <a:lnSpc>
                <a:spcPts val="3349"/>
              </a:lnSpc>
            </a:pPr>
          </a:p>
          <a:p>
            <a:pPr algn="just">
              <a:lnSpc>
                <a:spcPts val="3349"/>
              </a:lnSpc>
            </a:pPr>
            <a:r>
              <a:rPr lang="en-US" sz="239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These platforms support instant bookings, live tracking, automated notifications, and seamless interactions, making them ideal for industries where speed, convenience, and reliability are critical to customer satisfaction.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86651" y="1684527"/>
            <a:ext cx="5751951" cy="1933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4500" b="true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On-Demand App Development Overview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-2090058" y="8582229"/>
            <a:ext cx="4556571" cy="4556571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gradFill>
                <a:gsLst>
                  <a:gs pos="0">
                    <a:srgbClr val="FFF7AD">
                      <a:alpha val="100000"/>
                    </a:srgbClr>
                  </a:gs>
                  <a:gs pos="100000">
                    <a:srgbClr val="FFA9F9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51473" y="8778707"/>
            <a:ext cx="563753" cy="563753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7AD">
                    <a:alpha val="100000"/>
                  </a:srgbClr>
                </a:gs>
                <a:gs pos="100000">
                  <a:srgbClr val="FFA9F9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5999688" y="0"/>
            <a:ext cx="2057904" cy="1074683"/>
          </a:xfrm>
          <a:custGeom>
            <a:avLst/>
            <a:gdLst/>
            <a:ahLst/>
            <a:cxnLst/>
            <a:rect r="r" b="b" t="t" l="l"/>
            <a:pathLst>
              <a:path h="1074683" w="2057904">
                <a:moveTo>
                  <a:pt x="0" y="0"/>
                </a:moveTo>
                <a:lnTo>
                  <a:pt x="2057904" y="0"/>
                </a:lnTo>
                <a:lnTo>
                  <a:pt x="2057904" y="1074683"/>
                </a:lnTo>
                <a:lnTo>
                  <a:pt x="0" y="10746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620056">
            <a:off x="-2328690" y="-2004651"/>
            <a:ext cx="8640962" cy="8640962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7AD">
                    <a:alpha val="100000"/>
                  </a:srgbClr>
                </a:gs>
                <a:gs pos="100000">
                  <a:srgbClr val="FFA9F9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620056">
            <a:off x="15943365" y="8355288"/>
            <a:ext cx="4109097" cy="4109097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7AD">
                    <a:alpha val="100000"/>
                  </a:srgbClr>
                </a:gs>
                <a:gs pos="100000">
                  <a:srgbClr val="FFA9F9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908196" y="-2240741"/>
            <a:ext cx="4556571" cy="4556571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gradFill>
                <a:gsLst>
                  <a:gs pos="0">
                    <a:srgbClr val="FFF7AD">
                      <a:alpha val="100000"/>
                    </a:srgbClr>
                  </a:gs>
                  <a:gs pos="100000">
                    <a:srgbClr val="FFA9F9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77505">
            <a:off x="16225582" y="1113796"/>
            <a:ext cx="1002675" cy="1002675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7AD">
                    <a:alpha val="100000"/>
                  </a:srgbClr>
                </a:gs>
                <a:gs pos="100000">
                  <a:srgbClr val="FFA9F9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28700" y="1028700"/>
            <a:ext cx="6211369" cy="8229600"/>
            <a:chOff x="0" y="0"/>
            <a:chExt cx="8281826" cy="10972800"/>
          </a:xfrm>
        </p:grpSpPr>
        <p:pic>
          <p:nvPicPr>
            <p:cNvPr name="Picture 15" id="15"/>
            <p:cNvPicPr>
              <a:picLocks noChangeAspect="true"/>
            </p:cNvPicPr>
            <p:nvPr/>
          </p:nvPicPr>
          <p:blipFill>
            <a:blip r:embed="rId2"/>
            <a:srcRect l="25966" t="7511" r="31579" b="8117"/>
            <a:stretch>
              <a:fillRect/>
            </a:stretch>
          </p:blipFill>
          <p:spPr>
            <a:xfrm flipH="false" flipV="false">
              <a:off x="0" y="0"/>
              <a:ext cx="8281826" cy="10972800"/>
            </a:xfrm>
            <a:prstGeom prst="rect">
              <a:avLst/>
            </a:prstGeom>
          </p:spPr>
        </p:pic>
      </p:grpSp>
      <p:sp>
        <p:nvSpPr>
          <p:cNvPr name="Freeform 16" id="16"/>
          <p:cNvSpPr/>
          <p:nvPr/>
        </p:nvSpPr>
        <p:spPr>
          <a:xfrm flipH="false" flipV="false" rot="0">
            <a:off x="9360816" y="6983770"/>
            <a:ext cx="694234" cy="595306"/>
          </a:xfrm>
          <a:custGeom>
            <a:avLst/>
            <a:gdLst/>
            <a:ahLst/>
            <a:cxnLst/>
            <a:rect r="r" b="b" t="t" l="l"/>
            <a:pathLst>
              <a:path h="595306" w="694234">
                <a:moveTo>
                  <a:pt x="0" y="0"/>
                </a:moveTo>
                <a:lnTo>
                  <a:pt x="694234" y="0"/>
                </a:lnTo>
                <a:lnTo>
                  <a:pt x="694234" y="595306"/>
                </a:lnTo>
                <a:lnTo>
                  <a:pt x="0" y="5953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2140556" y="6956163"/>
            <a:ext cx="566073" cy="622913"/>
          </a:xfrm>
          <a:custGeom>
            <a:avLst/>
            <a:gdLst/>
            <a:ahLst/>
            <a:cxnLst/>
            <a:rect r="r" b="b" t="t" l="l"/>
            <a:pathLst>
              <a:path h="622913" w="566073">
                <a:moveTo>
                  <a:pt x="0" y="0"/>
                </a:moveTo>
                <a:lnTo>
                  <a:pt x="566073" y="0"/>
                </a:lnTo>
                <a:lnTo>
                  <a:pt x="566073" y="622913"/>
                </a:lnTo>
                <a:lnTo>
                  <a:pt x="0" y="62291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8743531" y="4344918"/>
            <a:ext cx="7821917" cy="3330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9"/>
              </a:lnSpc>
            </a:pPr>
            <a:r>
              <a:rPr lang="en-US" sz="239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Our </a:t>
            </a:r>
            <a:r>
              <a:rPr lang="en-US" sz="239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  <a:hlinkClick r:id="rId7" tooltip="https://xinzex.com/custom-on-demand-app-development-services-in-usa/"/>
              </a:rPr>
              <a:t>custom on demand app development services</a:t>
            </a:r>
            <a:r>
              <a:rPr lang="en-US" sz="239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are tailored to match unique business models, operational workflows, and customer expectations.</a:t>
            </a:r>
          </a:p>
          <a:p>
            <a:pPr algn="l">
              <a:lnSpc>
                <a:spcPts val="3349"/>
              </a:lnSpc>
            </a:pPr>
          </a:p>
          <a:p>
            <a:pPr algn="l">
              <a:lnSpc>
                <a:spcPts val="3349"/>
              </a:lnSpc>
            </a:pPr>
            <a:r>
              <a:rPr lang="en-US" sz="239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We design flexible architectures that support feature customization, third-party integrations, and future scalability, ensuring long-term value and adaptability as business needs evolve.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743531" y="1739077"/>
            <a:ext cx="8285109" cy="2237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19"/>
              </a:lnSpc>
            </a:pPr>
            <a:r>
              <a:rPr lang="en-US" sz="5199" b="true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Custom On Demand App Development Services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5999688" y="0"/>
            <a:ext cx="2057904" cy="1074683"/>
          </a:xfrm>
          <a:custGeom>
            <a:avLst/>
            <a:gdLst/>
            <a:ahLst/>
            <a:cxnLst/>
            <a:rect r="r" b="b" t="t" l="l"/>
            <a:pathLst>
              <a:path h="1074683" w="2057904">
                <a:moveTo>
                  <a:pt x="0" y="0"/>
                </a:moveTo>
                <a:lnTo>
                  <a:pt x="2057904" y="0"/>
                </a:lnTo>
                <a:lnTo>
                  <a:pt x="2057904" y="1074683"/>
                </a:lnTo>
                <a:lnTo>
                  <a:pt x="0" y="107468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620056">
            <a:off x="-1255428" y="4293688"/>
            <a:ext cx="7908971" cy="7908971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7AD">
                    <a:alpha val="100000"/>
                  </a:srgbClr>
                </a:gs>
                <a:gs pos="100000">
                  <a:srgbClr val="FFA9F9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620056">
            <a:off x="3908403" y="-4475547"/>
            <a:ext cx="7908971" cy="7908971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7AD">
                    <a:alpha val="100000"/>
                  </a:srgbClr>
                </a:gs>
                <a:gs pos="100000">
                  <a:srgbClr val="FFA9F9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38950" y="1256463"/>
            <a:ext cx="6311487" cy="9030537"/>
            <a:chOff x="0" y="0"/>
            <a:chExt cx="8415315" cy="12040716"/>
          </a:xfrm>
        </p:grpSpPr>
        <p:pic>
          <p:nvPicPr>
            <p:cNvPr name="Picture 9" id="9"/>
            <p:cNvPicPr>
              <a:picLocks noChangeAspect="true"/>
            </p:cNvPicPr>
            <p:nvPr/>
          </p:nvPicPr>
          <p:blipFill>
            <a:blip r:embed="rId2"/>
            <a:srcRect l="12338" t="7414" r="0" b="8967"/>
            <a:stretch>
              <a:fillRect/>
            </a:stretch>
          </p:blipFill>
          <p:spPr>
            <a:xfrm flipH="false" flipV="false">
              <a:off x="0" y="0"/>
              <a:ext cx="8415315" cy="12040716"/>
            </a:xfrm>
            <a:prstGeom prst="rect">
              <a:avLst/>
            </a:prstGeom>
          </p:spPr>
        </p:pic>
      </p:grpSp>
      <p:grpSp>
        <p:nvGrpSpPr>
          <p:cNvPr name="Group 10" id="10"/>
          <p:cNvGrpSpPr/>
          <p:nvPr/>
        </p:nvGrpSpPr>
        <p:grpSpPr>
          <a:xfrm rot="-3582628">
            <a:off x="16414111" y="7838501"/>
            <a:ext cx="4556571" cy="4556571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gradFill>
                <a:gsLst>
                  <a:gs pos="0">
                    <a:srgbClr val="FFF7AD">
                      <a:alpha val="100000"/>
                    </a:srgbClr>
                  </a:gs>
                  <a:gs pos="100000">
                    <a:srgbClr val="FFA9F9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-77505">
            <a:off x="16981416" y="8149376"/>
            <a:ext cx="555768" cy="555768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7AD">
                    <a:alpha val="100000"/>
                  </a:srgbClr>
                </a:gs>
                <a:gs pos="100000">
                  <a:srgbClr val="FFA9F9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-77505">
            <a:off x="614865" y="706836"/>
            <a:ext cx="1684710" cy="1684710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7AD">
                    <a:alpha val="100000"/>
                  </a:srgbClr>
                </a:gs>
                <a:gs pos="100000">
                  <a:srgbClr val="FFA9F9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8744793" y="4443670"/>
            <a:ext cx="7821917" cy="3749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49"/>
              </a:lnSpc>
            </a:pPr>
            <a:r>
              <a:rPr lang="en-US" sz="239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As a reliable </a:t>
            </a:r>
            <a:r>
              <a:rPr lang="en-US" sz="239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  <a:hlinkClick r:id="rId3" tooltip="https://xinzex.com/custom-on-demand-app-development-services-in-usa/"/>
              </a:rPr>
              <a:t>on demand app development company</a:t>
            </a:r>
            <a:r>
              <a:rPr lang="en-US" sz="239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, we bring deep technical expertise and industry knowledge to every project. </a:t>
            </a:r>
          </a:p>
          <a:p>
            <a:pPr algn="just">
              <a:lnSpc>
                <a:spcPts val="3349"/>
              </a:lnSpc>
            </a:pPr>
          </a:p>
          <a:p>
            <a:pPr algn="just">
              <a:lnSpc>
                <a:spcPts val="3349"/>
              </a:lnSpc>
            </a:pPr>
            <a:r>
              <a:rPr lang="en-US" sz="239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Our agile development approach ensures faster time-to-market, high-quality code, and continuous improvements, helping businesses launch and grow their on-demand applications with confidence.</a:t>
            </a:r>
          </a:p>
          <a:p>
            <a:pPr algn="just">
              <a:lnSpc>
                <a:spcPts val="3349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8744793" y="1675002"/>
            <a:ext cx="9059494" cy="2237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19"/>
              </a:lnSpc>
            </a:pPr>
            <a:r>
              <a:rPr lang="en-US" sz="5199" b="true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On-Demand App Development Company Expertise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5999688" y="0"/>
            <a:ext cx="2057904" cy="1074683"/>
          </a:xfrm>
          <a:custGeom>
            <a:avLst/>
            <a:gdLst/>
            <a:ahLst/>
            <a:cxnLst/>
            <a:rect r="r" b="b" t="t" l="l"/>
            <a:pathLst>
              <a:path h="1074683" w="2057904">
                <a:moveTo>
                  <a:pt x="0" y="0"/>
                </a:moveTo>
                <a:lnTo>
                  <a:pt x="2057904" y="0"/>
                </a:lnTo>
                <a:lnTo>
                  <a:pt x="2057904" y="1074683"/>
                </a:lnTo>
                <a:lnTo>
                  <a:pt x="0" y="10746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973018"/>
            <a:ext cx="12896636" cy="1513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19"/>
              </a:lnSpc>
            </a:pPr>
            <a:r>
              <a:rPr lang="en-US" sz="5199" b="true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Why Choose Xinzex On-Demand App Development Services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4321448"/>
            <a:ext cx="12896636" cy="2491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49"/>
              </a:lnSpc>
            </a:pPr>
            <a:r>
              <a:rPr lang="en-US" sz="239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On Demand App Development Services by Xinzex combine customization, innovation, and reliability to deliver future-ready solutions. </a:t>
            </a:r>
          </a:p>
          <a:p>
            <a:pPr algn="just">
              <a:lnSpc>
                <a:spcPts val="3349"/>
              </a:lnSpc>
            </a:pPr>
          </a:p>
          <a:p>
            <a:pPr algn="just">
              <a:lnSpc>
                <a:spcPts val="3349"/>
              </a:lnSpc>
            </a:pPr>
            <a:r>
              <a:rPr lang="en-US" sz="239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By focusing on performance, scalability, and continuous support, we help businesses build on-demand applications that grow with market demands and user expectations.</a:t>
            </a:r>
          </a:p>
          <a:p>
            <a:pPr algn="just">
              <a:lnSpc>
                <a:spcPts val="3349"/>
              </a:lnSpc>
            </a:pPr>
          </a:p>
        </p:txBody>
      </p:sp>
      <p:grpSp>
        <p:nvGrpSpPr>
          <p:cNvPr name="Group 4" id="4"/>
          <p:cNvGrpSpPr/>
          <p:nvPr/>
        </p:nvGrpSpPr>
        <p:grpSpPr>
          <a:xfrm rot="-1610640">
            <a:off x="13957377" y="-4098841"/>
            <a:ext cx="7403234" cy="7403234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7AD">
                    <a:alpha val="100000"/>
                  </a:srgbClr>
                </a:gs>
                <a:gs pos="100000">
                  <a:srgbClr val="FFA9F9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-1610640">
            <a:off x="-1070385" y="8907770"/>
            <a:ext cx="2431594" cy="2431594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7AD">
                    <a:alpha val="100000"/>
                  </a:srgbClr>
                </a:gs>
                <a:gs pos="100000">
                  <a:srgbClr val="FFA9F9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-1610640">
            <a:off x="1446694" y="-1477478"/>
            <a:ext cx="2431594" cy="243159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7AD">
                    <a:alpha val="100000"/>
                  </a:srgbClr>
                </a:gs>
                <a:gs pos="100000">
                  <a:srgbClr val="FFA9F9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-1013461">
            <a:off x="16009715" y="8678768"/>
            <a:ext cx="4556571" cy="4556571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gradFill>
                <a:gsLst>
                  <a:gs pos="0">
                    <a:srgbClr val="FFF7AD">
                      <a:alpha val="100000"/>
                    </a:srgbClr>
                  </a:gs>
                  <a:gs pos="100000">
                    <a:srgbClr val="FFA9F9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-77505">
            <a:off x="17097031" y="8696338"/>
            <a:ext cx="555768" cy="555768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7AD">
                    <a:alpha val="100000"/>
                  </a:srgbClr>
                </a:gs>
                <a:gs pos="100000">
                  <a:srgbClr val="FFA9F9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5999688" y="0"/>
            <a:ext cx="2057904" cy="1074683"/>
          </a:xfrm>
          <a:custGeom>
            <a:avLst/>
            <a:gdLst/>
            <a:ahLst/>
            <a:cxnLst/>
            <a:rect r="r" b="b" t="t" l="l"/>
            <a:pathLst>
              <a:path h="1074683" w="2057904">
                <a:moveTo>
                  <a:pt x="0" y="0"/>
                </a:moveTo>
                <a:lnTo>
                  <a:pt x="2057904" y="0"/>
                </a:lnTo>
                <a:lnTo>
                  <a:pt x="2057904" y="1074683"/>
                </a:lnTo>
                <a:lnTo>
                  <a:pt x="0" y="10746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610640">
            <a:off x="6154742" y="1777288"/>
            <a:ext cx="5978517" cy="5978517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7AD">
                    <a:alpha val="100000"/>
                  </a:srgbClr>
                </a:gs>
                <a:gs pos="100000">
                  <a:srgbClr val="FFA9F9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326749" y="4041564"/>
            <a:ext cx="9634501" cy="1478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12"/>
              </a:lnSpc>
            </a:pPr>
            <a:r>
              <a:rPr lang="en-US" sz="9920" b="true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Thank You</a:t>
            </a:r>
          </a:p>
        </p:txBody>
      </p:sp>
      <p:grpSp>
        <p:nvGrpSpPr>
          <p:cNvPr name="Group 6" id="6"/>
          <p:cNvGrpSpPr/>
          <p:nvPr/>
        </p:nvGrpSpPr>
        <p:grpSpPr>
          <a:xfrm rot="-1013461">
            <a:off x="-2402491" y="6679611"/>
            <a:ext cx="7214779" cy="7214779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gradFill>
                <a:gsLst>
                  <a:gs pos="0">
                    <a:srgbClr val="FFF7AD">
                      <a:alpha val="100000"/>
                    </a:srgbClr>
                  </a:gs>
                  <a:gs pos="100000">
                    <a:srgbClr val="FFA9F9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764725" y="8890297"/>
            <a:ext cx="3562024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352">
                <a:solidFill>
                  <a:srgbClr val="000000"/>
                </a:solidFill>
                <a:latin typeface="TT Runs"/>
                <a:ea typeface="TT Runs"/>
                <a:cs typeface="TT Runs"/>
                <a:sym typeface="TT Runs"/>
                <a:hlinkClick r:id="rId2" tooltip="tel:+18889101010"/>
              </a:rPr>
              <a:t>+1 8889 10 10 10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333933" y="8890297"/>
            <a:ext cx="4425535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 spc="352">
                <a:solidFill>
                  <a:srgbClr val="000000"/>
                </a:solidFill>
                <a:latin typeface="TT Runs"/>
                <a:ea typeface="TT Runs"/>
                <a:cs typeface="TT Runs"/>
                <a:sym typeface="TT Runs"/>
                <a:hlinkClick r:id="rId3" tooltip="http://www.xinzex.com"/>
              </a:rPr>
              <a:t>WWW.XINZEX.COM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207838" y="8890297"/>
            <a:ext cx="9275974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spc="352">
                <a:solidFill>
                  <a:srgbClr val="000000"/>
                </a:solidFill>
                <a:latin typeface="TT Runs"/>
                <a:ea typeface="TT Runs"/>
                <a:cs typeface="TT Runs"/>
                <a:sym typeface="TT Runs"/>
              </a:rPr>
              <a:t>651 N BROAD ST, SUITE 206</a:t>
            </a:r>
          </a:p>
          <a:p>
            <a:pPr algn="ctr">
              <a:lnSpc>
                <a:spcPts val="2520"/>
              </a:lnSpc>
            </a:pPr>
            <a:r>
              <a:rPr lang="en-US" sz="1800" spc="352">
                <a:solidFill>
                  <a:srgbClr val="000000"/>
                </a:solidFill>
                <a:latin typeface="TT Runs"/>
                <a:ea typeface="TT Runs"/>
                <a:cs typeface="TT Runs"/>
                <a:sym typeface="TT Runs"/>
              </a:rPr>
              <a:t>MIDDLETOWN, DE 19709</a:t>
            </a:r>
          </a:p>
        </p:txBody>
      </p:sp>
      <p:grpSp>
        <p:nvGrpSpPr>
          <p:cNvPr name="Group 12" id="12"/>
          <p:cNvGrpSpPr/>
          <p:nvPr/>
        </p:nvGrpSpPr>
        <p:grpSpPr>
          <a:xfrm rot="-1610640">
            <a:off x="-1215797" y="-791859"/>
            <a:ext cx="2431594" cy="2431594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7AD">
                    <a:alpha val="100000"/>
                  </a:srgbClr>
                </a:gs>
                <a:gs pos="100000">
                  <a:srgbClr val="FFA9F9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-1610640">
            <a:off x="17919145" y="7445048"/>
            <a:ext cx="737710" cy="737710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7AD">
                    <a:alpha val="100000"/>
                  </a:srgbClr>
                </a:gs>
                <a:gs pos="100000">
                  <a:srgbClr val="FFA9F9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-1013461">
            <a:off x="15610206" y="-1962910"/>
            <a:ext cx="4556571" cy="4556571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gradFill>
                <a:gsLst>
                  <a:gs pos="0">
                    <a:srgbClr val="FFF7AD">
                      <a:alpha val="100000"/>
                    </a:srgbClr>
                  </a:gs>
                  <a:gs pos="100000">
                    <a:srgbClr val="FFA9F9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-1610640">
            <a:off x="1264936" y="6345989"/>
            <a:ext cx="737710" cy="737710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7AD">
                    <a:alpha val="100000"/>
                  </a:srgbClr>
                </a:gs>
                <a:gs pos="100000">
                  <a:srgbClr val="FFA9F9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15999688" y="0"/>
            <a:ext cx="2057904" cy="1074683"/>
          </a:xfrm>
          <a:custGeom>
            <a:avLst/>
            <a:gdLst/>
            <a:ahLst/>
            <a:cxnLst/>
            <a:rect r="r" b="b" t="t" l="l"/>
            <a:pathLst>
              <a:path h="1074683" w="2057904">
                <a:moveTo>
                  <a:pt x="0" y="0"/>
                </a:moveTo>
                <a:lnTo>
                  <a:pt x="2057904" y="0"/>
                </a:lnTo>
                <a:lnTo>
                  <a:pt x="2057904" y="1074683"/>
                </a:lnTo>
                <a:lnTo>
                  <a:pt x="0" y="10746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DAHA50dPA7Y</dc:identifier>
  <dcterms:modified xsi:type="dcterms:W3CDTF">2011-08-01T06:04:30Z</dcterms:modified>
  <cp:revision>1</cp:revision>
  <dc:title>Elevate Your Lifestyle with Our Mobile Technology</dc:title>
</cp:coreProperties>
</file>