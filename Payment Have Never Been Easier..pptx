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Muli Bold" charset="1" panose="00000800000000000000"/>
      <p:regular r:id="rId12"/>
    </p:embeddedFont>
    <p:embeddedFont>
      <p:font typeface="Poppins" charset="1" panose="00000500000000000000"/>
      <p:regular r:id="rId13"/>
    </p:embeddedFont>
    <p:embeddedFont>
      <p:font typeface="Poppins Bold" charset="1" panose="00000800000000000000"/>
      <p:regular r:id="rId14"/>
    </p:embeddedFont>
    <p:embeddedFont>
      <p:font typeface="Poppins Light" charset="1" panose="000004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https://xinzex.com/custom-on-demand-app-development-services-in-usa/" TargetMode="External" Type="http://schemas.openxmlformats.org/officeDocument/2006/relationships/hyperlink"/><Relationship Id="rId8"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14" Target="../media/image12.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png" Type="http://schemas.openxmlformats.org/officeDocument/2006/relationships/image"/><Relationship Id="rId5" Target="../media/image3.pn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2" Target="../media/image2.png" Type="http://schemas.openxmlformats.org/officeDocument/2006/relationships/image"/><Relationship Id="rId3" Target="../media/image1.pn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https://xinzex.com/custom-on-demand-app-development-services-in-usa/" TargetMode="External" Type="http://schemas.openxmlformats.org/officeDocument/2006/relationships/hyperlink"/><Relationship Id="rId9"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media/image27.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1.pn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svg" Type="http://schemas.openxmlformats.org/officeDocument/2006/relationships/image"/><Relationship Id="rId12" Target="../media/image35.png" Type="http://schemas.openxmlformats.org/officeDocument/2006/relationships/image"/><Relationship Id="rId13" Target="../media/image36.svg" Type="http://schemas.openxmlformats.org/officeDocument/2006/relationships/image"/><Relationship Id="rId14" Target="../media/image37.png" Type="http://schemas.openxmlformats.org/officeDocument/2006/relationships/image"/><Relationship Id="rId15" Target="../media/image38.svg" Type="http://schemas.openxmlformats.org/officeDocument/2006/relationships/image"/><Relationship Id="rId16" Target="../media/image39.png" Type="http://schemas.openxmlformats.org/officeDocument/2006/relationships/image"/><Relationship Id="rId17" Target="../media/image40.svg" Type="http://schemas.openxmlformats.org/officeDocument/2006/relationships/image"/><Relationship Id="rId18" Target="http://www.xinzex.com" TargetMode="External" Type="http://schemas.openxmlformats.org/officeDocument/2006/relationships/hyperlink"/><Relationship Id="rId19" Target="tel:+18889101010" TargetMode="External" Type="http://schemas.openxmlformats.org/officeDocument/2006/relationships/hyperlink"/><Relationship Id="rId2" Target="../media/image1.png" Type="http://schemas.openxmlformats.org/officeDocument/2006/relationships/image"/><Relationship Id="rId20" Target="mailto:support@xinzex.com" TargetMode="External" Type="http://schemas.openxmlformats.org/officeDocument/2006/relationships/hyperlink"/><Relationship Id="rId21" Target="../media/image12.png" Type="http://schemas.openxmlformats.org/officeDocument/2006/relationships/image"/><Relationship Id="rId3" Target="../media/image32.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8254B"/>
        </a:solidFill>
      </p:bgPr>
    </p:bg>
    <p:spTree>
      <p:nvGrpSpPr>
        <p:cNvPr id="1" name=""/>
        <p:cNvGrpSpPr/>
        <p:nvPr/>
      </p:nvGrpSpPr>
      <p:grpSpPr>
        <a:xfrm>
          <a:off x="0" y="0"/>
          <a:ext cx="0" cy="0"/>
          <a:chOff x="0" y="0"/>
          <a:chExt cx="0" cy="0"/>
        </a:xfrm>
      </p:grpSpPr>
      <p:sp>
        <p:nvSpPr>
          <p:cNvPr name="Freeform 2" id="2"/>
          <p:cNvSpPr/>
          <p:nvPr/>
        </p:nvSpPr>
        <p:spPr>
          <a:xfrm flipH="false" flipV="false" rot="0">
            <a:off x="11668237" y="4587548"/>
            <a:ext cx="10066789" cy="8229600"/>
          </a:xfrm>
          <a:custGeom>
            <a:avLst/>
            <a:gdLst/>
            <a:ahLst/>
            <a:cxnLst/>
            <a:rect r="r" b="b" t="t" l="l"/>
            <a:pathLst>
              <a:path h="8229600" w="10066789">
                <a:moveTo>
                  <a:pt x="0" y="0"/>
                </a:moveTo>
                <a:lnTo>
                  <a:pt x="10066789" y="0"/>
                </a:lnTo>
                <a:lnTo>
                  <a:pt x="10066789"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9144000" y="1028700"/>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3"/>
            <a:stretch>
              <a:fillRect l="0" t="0" r="0" b="0"/>
            </a:stretch>
          </a:blipFill>
        </p:spPr>
      </p:sp>
      <p:grpSp>
        <p:nvGrpSpPr>
          <p:cNvPr name="Group 4" id="4"/>
          <p:cNvGrpSpPr/>
          <p:nvPr/>
        </p:nvGrpSpPr>
        <p:grpSpPr>
          <a:xfrm rot="0">
            <a:off x="-61708" y="-879747"/>
            <a:ext cx="9501417" cy="13258263"/>
            <a:chOff x="0" y="0"/>
            <a:chExt cx="2502431" cy="3491888"/>
          </a:xfrm>
        </p:grpSpPr>
        <p:sp>
          <p:nvSpPr>
            <p:cNvPr name="Freeform 5" id="5"/>
            <p:cNvSpPr/>
            <p:nvPr/>
          </p:nvSpPr>
          <p:spPr>
            <a:xfrm flipH="false" flipV="false" rot="0">
              <a:off x="0" y="0"/>
              <a:ext cx="2502431" cy="3491888"/>
            </a:xfrm>
            <a:custGeom>
              <a:avLst/>
              <a:gdLst/>
              <a:ahLst/>
              <a:cxnLst/>
              <a:rect r="r" b="b" t="t" l="l"/>
              <a:pathLst>
                <a:path h="3491888" w="2502431">
                  <a:moveTo>
                    <a:pt x="0" y="0"/>
                  </a:moveTo>
                  <a:lnTo>
                    <a:pt x="2502431" y="0"/>
                  </a:lnTo>
                  <a:lnTo>
                    <a:pt x="2502431" y="3491888"/>
                  </a:lnTo>
                  <a:lnTo>
                    <a:pt x="0" y="3491888"/>
                  </a:lnTo>
                  <a:close/>
                </a:path>
              </a:pathLst>
            </a:custGeom>
            <a:solidFill>
              <a:srgbClr val="004AAD"/>
            </a:solidFill>
          </p:spPr>
        </p:sp>
        <p:sp>
          <p:nvSpPr>
            <p:cNvPr name="TextBox 6" id="6"/>
            <p:cNvSpPr txBox="true"/>
            <p:nvPr/>
          </p:nvSpPr>
          <p:spPr>
            <a:xfrm>
              <a:off x="0" y="-38100"/>
              <a:ext cx="2502431" cy="3529988"/>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01184" y="2215109"/>
            <a:ext cx="9052377" cy="905237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38000"/>
                  </a:srgbClr>
                </a:gs>
                <a:gs pos="100000">
                  <a:srgbClr val="004AAD">
                    <a:alpha val="38000"/>
                  </a:srgbClr>
                </a:gs>
              </a:gsLst>
              <a:lin ang="0"/>
            </a:gra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5123508" y="4485936"/>
            <a:ext cx="10066789" cy="8229600"/>
          </a:xfrm>
          <a:custGeom>
            <a:avLst/>
            <a:gdLst/>
            <a:ahLst/>
            <a:cxnLst/>
            <a:rect r="r" b="b" t="t" l="l"/>
            <a:pathLst>
              <a:path h="8229600" w="10066789">
                <a:moveTo>
                  <a:pt x="0" y="0"/>
                </a:moveTo>
                <a:lnTo>
                  <a:pt x="10066789" y="0"/>
                </a:lnTo>
                <a:lnTo>
                  <a:pt x="10066789" y="8229600"/>
                </a:lnTo>
                <a:lnTo>
                  <a:pt x="0" y="8229600"/>
                </a:lnTo>
                <a:lnTo>
                  <a:pt x="0" y="0"/>
                </a:lnTo>
                <a:close/>
              </a:path>
            </a:pathLst>
          </a:custGeom>
          <a:blipFill>
            <a:blip r:embed="rId2"/>
            <a:stretch>
              <a:fillRect l="0" t="0" r="0" b="0"/>
            </a:stretch>
          </a:blipFill>
        </p:spPr>
      </p:sp>
      <p:sp>
        <p:nvSpPr>
          <p:cNvPr name="Freeform 11" id="11"/>
          <p:cNvSpPr/>
          <p:nvPr/>
        </p:nvSpPr>
        <p:spPr>
          <a:xfrm flipH="false" flipV="false" rot="0">
            <a:off x="-3812085" y="-3743664"/>
            <a:ext cx="10066789" cy="8229600"/>
          </a:xfrm>
          <a:custGeom>
            <a:avLst/>
            <a:gdLst/>
            <a:ahLst/>
            <a:cxnLst/>
            <a:rect r="r" b="b" t="t" l="l"/>
            <a:pathLst>
              <a:path h="8229600" w="10066789">
                <a:moveTo>
                  <a:pt x="0" y="0"/>
                </a:moveTo>
                <a:lnTo>
                  <a:pt x="10066789" y="0"/>
                </a:lnTo>
                <a:lnTo>
                  <a:pt x="10066789" y="8229600"/>
                </a:lnTo>
                <a:lnTo>
                  <a:pt x="0" y="8229600"/>
                </a:lnTo>
                <a:lnTo>
                  <a:pt x="0" y="0"/>
                </a:lnTo>
                <a:close/>
              </a:path>
            </a:pathLst>
          </a:custGeom>
          <a:blipFill>
            <a:blip r:embed="rId2"/>
            <a:stretch>
              <a:fillRect l="0" t="0" r="0" b="0"/>
            </a:stretch>
          </a:blipFill>
        </p:spPr>
      </p:sp>
      <p:sp>
        <p:nvSpPr>
          <p:cNvPr name="Freeform 12" id="12"/>
          <p:cNvSpPr/>
          <p:nvPr/>
        </p:nvSpPr>
        <p:spPr>
          <a:xfrm flipH="false" flipV="false" rot="0">
            <a:off x="10328606" y="1028700"/>
            <a:ext cx="6182487" cy="8229600"/>
          </a:xfrm>
          <a:custGeom>
            <a:avLst/>
            <a:gdLst/>
            <a:ahLst/>
            <a:cxnLst/>
            <a:rect r="r" b="b" t="t" l="l"/>
            <a:pathLst>
              <a:path h="8229600" w="6182487">
                <a:moveTo>
                  <a:pt x="0" y="0"/>
                </a:moveTo>
                <a:lnTo>
                  <a:pt x="6182487" y="0"/>
                </a:lnTo>
                <a:lnTo>
                  <a:pt x="6182487" y="8229600"/>
                </a:lnTo>
                <a:lnTo>
                  <a:pt x="0" y="8229600"/>
                </a:lnTo>
                <a:lnTo>
                  <a:pt x="0" y="0"/>
                </a:lnTo>
                <a:close/>
              </a:path>
            </a:pathLst>
          </a:custGeom>
          <a:blipFill>
            <a:blip r:embed="rId4"/>
            <a:stretch>
              <a:fillRect l="0" t="0" r="0" b="0"/>
            </a:stretch>
          </a:blipFill>
        </p:spPr>
      </p:sp>
      <p:sp>
        <p:nvSpPr>
          <p:cNvPr name="Freeform 13" id="13"/>
          <p:cNvSpPr/>
          <p:nvPr/>
        </p:nvSpPr>
        <p:spPr>
          <a:xfrm flipH="false" flipV="false" rot="0">
            <a:off x="13685566" y="5143500"/>
            <a:ext cx="3327845" cy="4114800"/>
          </a:xfrm>
          <a:custGeom>
            <a:avLst/>
            <a:gdLst/>
            <a:ahLst/>
            <a:cxnLst/>
            <a:rect r="r" b="b" t="t" l="l"/>
            <a:pathLst>
              <a:path h="4114800" w="3327845">
                <a:moveTo>
                  <a:pt x="0" y="0"/>
                </a:moveTo>
                <a:lnTo>
                  <a:pt x="3327844" y="0"/>
                </a:lnTo>
                <a:lnTo>
                  <a:pt x="332784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3837966" y="5295900"/>
            <a:ext cx="3327845" cy="4114800"/>
          </a:xfrm>
          <a:custGeom>
            <a:avLst/>
            <a:gdLst/>
            <a:ahLst/>
            <a:cxnLst/>
            <a:rect r="r" b="b" t="t" l="l"/>
            <a:pathLst>
              <a:path h="4114800" w="3327845">
                <a:moveTo>
                  <a:pt x="0" y="0"/>
                </a:moveTo>
                <a:lnTo>
                  <a:pt x="3327844" y="0"/>
                </a:lnTo>
                <a:lnTo>
                  <a:pt x="332784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true" flipV="false" rot="0">
            <a:off x="10328606" y="1717145"/>
            <a:ext cx="2024086" cy="2502734"/>
          </a:xfrm>
          <a:custGeom>
            <a:avLst/>
            <a:gdLst/>
            <a:ahLst/>
            <a:cxnLst/>
            <a:rect r="r" b="b" t="t" l="l"/>
            <a:pathLst>
              <a:path h="2502734" w="2024086">
                <a:moveTo>
                  <a:pt x="2024086" y="0"/>
                </a:moveTo>
                <a:lnTo>
                  <a:pt x="0" y="0"/>
                </a:lnTo>
                <a:lnTo>
                  <a:pt x="0" y="2502734"/>
                </a:lnTo>
                <a:lnTo>
                  <a:pt x="2024086" y="2502734"/>
                </a:lnTo>
                <a:lnTo>
                  <a:pt x="202408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15501888" y="2017692"/>
            <a:ext cx="1665479" cy="1603024"/>
          </a:xfrm>
          <a:custGeom>
            <a:avLst/>
            <a:gdLst/>
            <a:ahLst/>
            <a:cxnLst/>
            <a:rect r="r" b="b" t="t" l="l"/>
            <a:pathLst>
              <a:path h="1603024" w="1665479">
                <a:moveTo>
                  <a:pt x="0" y="0"/>
                </a:moveTo>
                <a:lnTo>
                  <a:pt x="1665479" y="0"/>
                </a:lnTo>
                <a:lnTo>
                  <a:pt x="1665479" y="1603023"/>
                </a:lnTo>
                <a:lnTo>
                  <a:pt x="0" y="1603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10328606" y="7480860"/>
            <a:ext cx="1665479" cy="1603024"/>
          </a:xfrm>
          <a:custGeom>
            <a:avLst/>
            <a:gdLst/>
            <a:ahLst/>
            <a:cxnLst/>
            <a:rect r="r" b="b" t="t" l="l"/>
            <a:pathLst>
              <a:path h="1603024" w="1665479">
                <a:moveTo>
                  <a:pt x="0" y="0"/>
                </a:moveTo>
                <a:lnTo>
                  <a:pt x="1665479" y="0"/>
                </a:lnTo>
                <a:lnTo>
                  <a:pt x="1665479" y="1603024"/>
                </a:lnTo>
                <a:lnTo>
                  <a:pt x="0" y="160302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8" id="18"/>
          <p:cNvGrpSpPr/>
          <p:nvPr/>
        </p:nvGrpSpPr>
        <p:grpSpPr>
          <a:xfrm rot="0">
            <a:off x="8846469" y="4702660"/>
            <a:ext cx="1186479" cy="118647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CF47"/>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9144000" y="5028592"/>
            <a:ext cx="534615" cy="534615"/>
          </a:xfrm>
          <a:custGeom>
            <a:avLst/>
            <a:gdLst/>
            <a:ahLst/>
            <a:cxnLst/>
            <a:rect r="r" b="b" t="t" l="l"/>
            <a:pathLst>
              <a:path h="534615" w="534615">
                <a:moveTo>
                  <a:pt x="0" y="0"/>
                </a:moveTo>
                <a:lnTo>
                  <a:pt x="534615" y="0"/>
                </a:lnTo>
                <a:lnTo>
                  <a:pt x="534615" y="534616"/>
                </a:lnTo>
                <a:lnTo>
                  <a:pt x="0" y="5346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2" id="22"/>
          <p:cNvGrpSpPr/>
          <p:nvPr/>
        </p:nvGrpSpPr>
        <p:grpSpPr>
          <a:xfrm rot="0">
            <a:off x="954001" y="8322584"/>
            <a:ext cx="2366284" cy="935716"/>
            <a:chOff x="0" y="0"/>
            <a:chExt cx="1027724" cy="406400"/>
          </a:xfrm>
        </p:grpSpPr>
        <p:sp>
          <p:nvSpPr>
            <p:cNvPr name="Freeform 23" id="23"/>
            <p:cNvSpPr/>
            <p:nvPr/>
          </p:nvSpPr>
          <p:spPr>
            <a:xfrm flipH="false" flipV="false" rot="0">
              <a:off x="0" y="0"/>
              <a:ext cx="1027724" cy="406400"/>
            </a:xfrm>
            <a:custGeom>
              <a:avLst/>
              <a:gdLst/>
              <a:ahLst/>
              <a:cxnLst/>
              <a:rect r="r" b="b" t="t" l="l"/>
              <a:pathLst>
                <a:path h="406400" w="1027724">
                  <a:moveTo>
                    <a:pt x="824524" y="0"/>
                  </a:moveTo>
                  <a:cubicBezTo>
                    <a:pt x="936748" y="0"/>
                    <a:pt x="1027724" y="90976"/>
                    <a:pt x="1027724" y="203200"/>
                  </a:cubicBezTo>
                  <a:cubicBezTo>
                    <a:pt x="1027724" y="315424"/>
                    <a:pt x="936748" y="406400"/>
                    <a:pt x="824524" y="406400"/>
                  </a:cubicBezTo>
                  <a:lnTo>
                    <a:pt x="203200" y="406400"/>
                  </a:lnTo>
                  <a:cubicBezTo>
                    <a:pt x="90976" y="406400"/>
                    <a:pt x="0" y="315424"/>
                    <a:pt x="0" y="203200"/>
                  </a:cubicBezTo>
                  <a:cubicBezTo>
                    <a:pt x="0" y="90976"/>
                    <a:pt x="90976" y="0"/>
                    <a:pt x="203200" y="0"/>
                  </a:cubicBezTo>
                  <a:close/>
                </a:path>
              </a:pathLst>
            </a:custGeom>
            <a:ln w="28575" cap="sq">
              <a:solidFill>
                <a:srgbClr val="FFFFFF"/>
              </a:solidFill>
              <a:prstDash val="solid"/>
              <a:miter/>
            </a:ln>
          </p:spPr>
        </p:sp>
        <p:sp>
          <p:nvSpPr>
            <p:cNvPr name="TextBox 24" id="24"/>
            <p:cNvSpPr txBox="true"/>
            <p:nvPr/>
          </p:nvSpPr>
          <p:spPr>
            <a:xfrm>
              <a:off x="0" y="-38100"/>
              <a:ext cx="1027724" cy="444500"/>
            </a:xfrm>
            <a:prstGeom prst="rect">
              <a:avLst/>
            </a:prstGeom>
          </p:spPr>
          <p:txBody>
            <a:bodyPr anchor="ctr" rtlCol="false" tIns="50800" lIns="50800" bIns="50800" rIns="50800"/>
            <a:lstStyle/>
            <a:p>
              <a:pPr algn="ctr">
                <a:lnSpc>
                  <a:spcPts val="2659"/>
                </a:lnSpc>
              </a:pPr>
            </a:p>
          </p:txBody>
        </p:sp>
      </p:grpSp>
      <p:sp>
        <p:nvSpPr>
          <p:cNvPr name="Freeform 25" id="25"/>
          <p:cNvSpPr/>
          <p:nvPr/>
        </p:nvSpPr>
        <p:spPr>
          <a:xfrm flipH="false" flipV="false" rot="0">
            <a:off x="3685649" y="8448300"/>
            <a:ext cx="1072495" cy="508094"/>
          </a:xfrm>
          <a:custGeom>
            <a:avLst/>
            <a:gdLst/>
            <a:ahLst/>
            <a:cxnLst/>
            <a:rect r="r" b="b" t="t" l="l"/>
            <a:pathLst>
              <a:path h="508094" w="1072495">
                <a:moveTo>
                  <a:pt x="0" y="0"/>
                </a:moveTo>
                <a:lnTo>
                  <a:pt x="1072495" y="0"/>
                </a:lnTo>
                <a:lnTo>
                  <a:pt x="1072495" y="508095"/>
                </a:lnTo>
                <a:lnTo>
                  <a:pt x="0" y="50809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6" id="26"/>
          <p:cNvSpPr/>
          <p:nvPr/>
        </p:nvSpPr>
        <p:spPr>
          <a:xfrm flipH="false" flipV="false" rot="0">
            <a:off x="259052" y="0"/>
            <a:ext cx="2982832" cy="1557701"/>
          </a:xfrm>
          <a:custGeom>
            <a:avLst/>
            <a:gdLst/>
            <a:ahLst/>
            <a:cxnLst/>
            <a:rect r="r" b="b" t="t" l="l"/>
            <a:pathLst>
              <a:path h="1557701" w="2982832">
                <a:moveTo>
                  <a:pt x="0" y="0"/>
                </a:moveTo>
                <a:lnTo>
                  <a:pt x="2982832" y="0"/>
                </a:lnTo>
                <a:lnTo>
                  <a:pt x="2982832" y="1557701"/>
                </a:lnTo>
                <a:lnTo>
                  <a:pt x="0" y="1557701"/>
                </a:lnTo>
                <a:lnTo>
                  <a:pt x="0" y="0"/>
                </a:lnTo>
                <a:close/>
              </a:path>
            </a:pathLst>
          </a:custGeom>
          <a:blipFill>
            <a:blip r:embed="rId13"/>
            <a:stretch>
              <a:fillRect l="0" t="0" r="0" b="0"/>
            </a:stretch>
          </a:blipFill>
        </p:spPr>
      </p:sp>
      <p:sp>
        <p:nvSpPr>
          <p:cNvPr name="TextBox 27" id="27"/>
          <p:cNvSpPr txBox="true"/>
          <p:nvPr/>
        </p:nvSpPr>
        <p:spPr>
          <a:xfrm rot="0">
            <a:off x="954001" y="2174014"/>
            <a:ext cx="7462939" cy="4351020"/>
          </a:xfrm>
          <a:prstGeom prst="rect">
            <a:avLst/>
          </a:prstGeom>
        </p:spPr>
        <p:txBody>
          <a:bodyPr anchor="t" rtlCol="false" tIns="0" lIns="0" bIns="0" rIns="0">
            <a:spAutoFit/>
          </a:bodyPr>
          <a:lstStyle/>
          <a:p>
            <a:pPr algn="l">
              <a:lnSpc>
                <a:spcPts val="6839"/>
              </a:lnSpc>
            </a:pPr>
            <a:r>
              <a:rPr lang="en-US" sz="6000" b="true">
                <a:solidFill>
                  <a:srgbClr val="FFFFFF"/>
                </a:solidFill>
                <a:latin typeface="Muli Bold"/>
                <a:ea typeface="Muli Bold"/>
                <a:cs typeface="Muli Bold"/>
                <a:sym typeface="Muli Bold"/>
              </a:rPr>
              <a:t>Why Businesses Need Custom On Demand App Development Services</a:t>
            </a:r>
          </a:p>
        </p:txBody>
      </p:sp>
      <p:sp>
        <p:nvSpPr>
          <p:cNvPr name="TextBox 28" id="28"/>
          <p:cNvSpPr txBox="true"/>
          <p:nvPr/>
        </p:nvSpPr>
        <p:spPr>
          <a:xfrm rot="0">
            <a:off x="1074276" y="8629450"/>
            <a:ext cx="2167608" cy="331510"/>
          </a:xfrm>
          <a:prstGeom prst="rect">
            <a:avLst/>
          </a:prstGeom>
        </p:spPr>
        <p:txBody>
          <a:bodyPr anchor="t" rtlCol="false" tIns="0" lIns="0" bIns="0" rIns="0">
            <a:spAutoFit/>
          </a:bodyPr>
          <a:lstStyle/>
          <a:p>
            <a:pPr algn="ctr">
              <a:lnSpc>
                <a:spcPts val="2576"/>
              </a:lnSpc>
            </a:pPr>
            <a:r>
              <a:rPr lang="en-US" sz="2260" b="true">
                <a:solidFill>
                  <a:srgbClr val="FFFFFF"/>
                </a:solidFill>
                <a:latin typeface="Muli Bold"/>
                <a:ea typeface="Muli Bold"/>
                <a:cs typeface="Muli Bold"/>
                <a:sym typeface="Muli Bold"/>
              </a:rPr>
              <a:t>Get Started</a:t>
            </a:r>
          </a:p>
        </p:txBody>
      </p:sp>
      <p:sp>
        <p:nvSpPr>
          <p:cNvPr name="TextBox 29" id="29"/>
          <p:cNvSpPr txBox="true"/>
          <p:nvPr/>
        </p:nvSpPr>
        <p:spPr>
          <a:xfrm rot="0">
            <a:off x="1028700" y="6802455"/>
            <a:ext cx="6267450" cy="2281428"/>
          </a:xfrm>
          <a:prstGeom prst="rect">
            <a:avLst/>
          </a:prstGeom>
        </p:spPr>
        <p:txBody>
          <a:bodyPr anchor="t" rtlCol="false" tIns="0" lIns="0" bIns="0" rIns="0">
            <a:spAutoFit/>
          </a:bodyPr>
          <a:lstStyle/>
          <a:p>
            <a:pPr algn="l">
              <a:lnSpc>
                <a:spcPts val="2600"/>
              </a:lnSpc>
            </a:pPr>
            <a:r>
              <a:rPr lang="en-US" sz="1699">
                <a:solidFill>
                  <a:srgbClr val="FFFFFF"/>
                </a:solidFill>
                <a:latin typeface="Poppins"/>
                <a:ea typeface="Poppins"/>
                <a:cs typeface="Poppins"/>
                <a:sym typeface="Poppins"/>
              </a:rPr>
              <a:t>Empowering businesses with tailored digital solutions that drive growth, efficiency, and long-term scalability in the on-demand economy.</a:t>
            </a:r>
          </a:p>
          <a:p>
            <a:pPr algn="l">
              <a:lnSpc>
                <a:spcPts val="2600"/>
              </a:lnSpc>
            </a:pPr>
          </a:p>
          <a:p>
            <a:pPr algn="l">
              <a:lnSpc>
                <a:spcPts val="2600"/>
              </a:lnSpc>
            </a:pPr>
          </a:p>
          <a:p>
            <a:pPr algn="l">
              <a:lnSpc>
                <a:spcPts val="2600"/>
              </a:lnSpc>
            </a:pPr>
          </a:p>
          <a:p>
            <a:pPr algn="l">
              <a:lnSpc>
                <a:spcPts val="260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8254B"/>
        </a:solidFill>
      </p:bgPr>
    </p:bg>
    <p:spTree>
      <p:nvGrpSpPr>
        <p:cNvPr id="1" name=""/>
        <p:cNvGrpSpPr/>
        <p:nvPr/>
      </p:nvGrpSpPr>
      <p:grpSpPr>
        <a:xfrm>
          <a:off x="0" y="0"/>
          <a:ext cx="0" cy="0"/>
          <a:chOff x="0" y="0"/>
          <a:chExt cx="0" cy="0"/>
        </a:xfrm>
      </p:grpSpPr>
      <p:sp>
        <p:nvSpPr>
          <p:cNvPr name="Freeform 2" id="2"/>
          <p:cNvSpPr/>
          <p:nvPr/>
        </p:nvSpPr>
        <p:spPr>
          <a:xfrm flipH="false" flipV="false" rot="0">
            <a:off x="-3812085" y="-3743664"/>
            <a:ext cx="10066789" cy="8229600"/>
          </a:xfrm>
          <a:custGeom>
            <a:avLst/>
            <a:gdLst/>
            <a:ahLst/>
            <a:cxnLst/>
            <a:rect r="r" b="b" t="t" l="l"/>
            <a:pathLst>
              <a:path h="8229600" w="10066789">
                <a:moveTo>
                  <a:pt x="0" y="0"/>
                </a:moveTo>
                <a:lnTo>
                  <a:pt x="10066789" y="0"/>
                </a:lnTo>
                <a:lnTo>
                  <a:pt x="10066789" y="8229600"/>
                </a:lnTo>
                <a:lnTo>
                  <a:pt x="0" y="8229600"/>
                </a:lnTo>
                <a:lnTo>
                  <a:pt x="0" y="0"/>
                </a:lnTo>
                <a:close/>
              </a:path>
            </a:pathLst>
          </a:custGeom>
          <a:blipFill>
            <a:blip r:embed="rId2"/>
            <a:stretch>
              <a:fillRect l="0" t="0" r="0" b="0"/>
            </a:stretch>
          </a:blipFill>
        </p:spPr>
      </p:sp>
      <p:grpSp>
        <p:nvGrpSpPr>
          <p:cNvPr name="Group 3" id="3"/>
          <p:cNvGrpSpPr/>
          <p:nvPr/>
        </p:nvGrpSpPr>
        <p:grpSpPr>
          <a:xfrm rot="0">
            <a:off x="4253842" y="-4382617"/>
            <a:ext cx="9052377" cy="905237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5000"/>
                  </a:srgbClr>
                </a:gs>
                <a:gs pos="100000">
                  <a:srgbClr val="004AAD">
                    <a:alpha val="15000"/>
                  </a:srgbClr>
                </a:gs>
              </a:gsLst>
              <a:lin ang="0"/>
            </a:gra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4526189" y="2088235"/>
            <a:ext cx="9052377" cy="905237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38000"/>
                  </a:srgbClr>
                </a:gs>
                <a:gs pos="100000">
                  <a:srgbClr val="004AAD">
                    <a:alpha val="38000"/>
                  </a:srgbClr>
                </a:gs>
              </a:gsLst>
              <a:lin ang="0"/>
            </a:gra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2817313" y="5695771"/>
            <a:ext cx="10066789" cy="8229600"/>
          </a:xfrm>
          <a:custGeom>
            <a:avLst/>
            <a:gdLst/>
            <a:ahLst/>
            <a:cxnLst/>
            <a:rect r="r" b="b" t="t" l="l"/>
            <a:pathLst>
              <a:path h="8229600" w="10066789">
                <a:moveTo>
                  <a:pt x="0" y="0"/>
                </a:moveTo>
                <a:lnTo>
                  <a:pt x="10066789" y="0"/>
                </a:lnTo>
                <a:lnTo>
                  <a:pt x="10066789" y="8229600"/>
                </a:lnTo>
                <a:lnTo>
                  <a:pt x="0" y="8229600"/>
                </a:lnTo>
                <a:lnTo>
                  <a:pt x="0" y="0"/>
                </a:lnTo>
                <a:close/>
              </a:path>
            </a:pathLst>
          </a:custGeom>
          <a:blipFill>
            <a:blip r:embed="rId2"/>
            <a:stretch>
              <a:fillRect l="0" t="0" r="0" b="0"/>
            </a:stretch>
          </a:blipFill>
        </p:spPr>
      </p:sp>
      <p:grpSp>
        <p:nvGrpSpPr>
          <p:cNvPr name="Group 10" id="10"/>
          <p:cNvGrpSpPr/>
          <p:nvPr/>
        </p:nvGrpSpPr>
        <p:grpSpPr>
          <a:xfrm rot="0">
            <a:off x="14050491" y="2088235"/>
            <a:ext cx="9052377" cy="90523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38000"/>
                  </a:srgbClr>
                </a:gs>
                <a:gs pos="100000">
                  <a:srgbClr val="004AAD">
                    <a:alpha val="38000"/>
                  </a:srgbClr>
                </a:gs>
              </a:gsLst>
              <a:lin ang="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8379957" y="8230423"/>
            <a:ext cx="1072495" cy="508094"/>
          </a:xfrm>
          <a:custGeom>
            <a:avLst/>
            <a:gdLst/>
            <a:ahLst/>
            <a:cxnLst/>
            <a:rect r="r" b="b" t="t" l="l"/>
            <a:pathLst>
              <a:path h="508094" w="1072495">
                <a:moveTo>
                  <a:pt x="0" y="0"/>
                </a:moveTo>
                <a:lnTo>
                  <a:pt x="1072494" y="0"/>
                </a:lnTo>
                <a:lnTo>
                  <a:pt x="1072494" y="508094"/>
                </a:lnTo>
                <a:lnTo>
                  <a:pt x="0" y="5080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0" y="7888805"/>
            <a:ext cx="2928834" cy="3005333"/>
          </a:xfrm>
          <a:custGeom>
            <a:avLst/>
            <a:gdLst/>
            <a:ahLst/>
            <a:cxnLst/>
            <a:rect r="r" b="b" t="t" l="l"/>
            <a:pathLst>
              <a:path h="3005333" w="2928834">
                <a:moveTo>
                  <a:pt x="0" y="0"/>
                </a:moveTo>
                <a:lnTo>
                  <a:pt x="2928834" y="0"/>
                </a:lnTo>
                <a:lnTo>
                  <a:pt x="2928834" y="3005333"/>
                </a:lnTo>
                <a:lnTo>
                  <a:pt x="0" y="3005333"/>
                </a:lnTo>
                <a:lnTo>
                  <a:pt x="0" y="0"/>
                </a:lnTo>
                <a:close/>
              </a:path>
            </a:pathLst>
          </a:custGeom>
          <a:blipFill>
            <a:blip r:embed="rId5">
              <a:alphaModFix amt="21999"/>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5254028" y="1818557"/>
            <a:ext cx="8396847" cy="2181225"/>
          </a:xfrm>
          <a:prstGeom prst="rect">
            <a:avLst/>
          </a:prstGeom>
        </p:spPr>
        <p:txBody>
          <a:bodyPr anchor="t" rtlCol="false" tIns="0" lIns="0" bIns="0" rIns="0">
            <a:spAutoFit/>
          </a:bodyPr>
          <a:lstStyle/>
          <a:p>
            <a:pPr algn="ctr">
              <a:lnSpc>
                <a:spcPts val="5700"/>
              </a:lnSpc>
            </a:pPr>
            <a:r>
              <a:rPr lang="en-US" sz="5000" b="true">
                <a:solidFill>
                  <a:srgbClr val="FFFFFF"/>
                </a:solidFill>
                <a:latin typeface="Muli Bold"/>
                <a:ea typeface="Muli Bold"/>
                <a:cs typeface="Muli Bold"/>
                <a:sym typeface="Muli Bold"/>
              </a:rPr>
              <a:t>Why Businesses Need Custom On Demand App Development Services</a:t>
            </a:r>
          </a:p>
        </p:txBody>
      </p:sp>
      <p:sp>
        <p:nvSpPr>
          <p:cNvPr name="TextBox 16" id="16"/>
          <p:cNvSpPr txBox="true"/>
          <p:nvPr/>
        </p:nvSpPr>
        <p:spPr>
          <a:xfrm rot="0">
            <a:off x="7626841" y="1097752"/>
            <a:ext cx="2851073" cy="426606"/>
          </a:xfrm>
          <a:prstGeom prst="rect">
            <a:avLst/>
          </a:prstGeom>
        </p:spPr>
        <p:txBody>
          <a:bodyPr anchor="t" rtlCol="false" tIns="0" lIns="0" bIns="0" rIns="0">
            <a:spAutoFit/>
          </a:bodyPr>
          <a:lstStyle/>
          <a:p>
            <a:pPr algn="ctr">
              <a:lnSpc>
                <a:spcPts val="3334"/>
              </a:lnSpc>
            </a:pPr>
            <a:r>
              <a:rPr lang="en-US" sz="2925" b="true">
                <a:solidFill>
                  <a:srgbClr val="FFFFFF"/>
                </a:solidFill>
                <a:latin typeface="Muli Bold"/>
                <a:ea typeface="Muli Bold"/>
                <a:cs typeface="Muli Bold"/>
                <a:sym typeface="Muli Bold"/>
              </a:rPr>
              <a:t>Introduction</a:t>
            </a:r>
          </a:p>
        </p:txBody>
      </p:sp>
      <p:sp>
        <p:nvSpPr>
          <p:cNvPr name="TextBox 17" id="17"/>
          <p:cNvSpPr txBox="true"/>
          <p:nvPr/>
        </p:nvSpPr>
        <p:spPr>
          <a:xfrm rot="0">
            <a:off x="2440126" y="4805765"/>
            <a:ext cx="13472101" cy="2673911"/>
          </a:xfrm>
          <a:prstGeom prst="rect">
            <a:avLst/>
          </a:prstGeom>
        </p:spPr>
        <p:txBody>
          <a:bodyPr anchor="t" rtlCol="false" tIns="0" lIns="0" bIns="0" rIns="0">
            <a:spAutoFit/>
          </a:bodyPr>
          <a:lstStyle/>
          <a:p>
            <a:pPr algn="ctr">
              <a:lnSpc>
                <a:spcPts val="3572"/>
              </a:lnSpc>
            </a:pPr>
            <a:r>
              <a:rPr lang="en-US" sz="2335">
                <a:solidFill>
                  <a:srgbClr val="FFFFFF"/>
                </a:solidFill>
                <a:latin typeface="Poppins"/>
                <a:ea typeface="Poppins"/>
                <a:cs typeface="Poppins"/>
                <a:sym typeface="Poppins"/>
              </a:rPr>
              <a:t>The rapid growth of the on-demand economy has transformed how customers interact with businesses. Today, users expect instant access, seamless booking, and real-time updates through mobile platforms. </a:t>
            </a:r>
            <a:r>
              <a:rPr lang="en-US" sz="2335" u="sng">
                <a:solidFill>
                  <a:srgbClr val="FFFFFF"/>
                </a:solidFill>
                <a:latin typeface="Poppins"/>
                <a:ea typeface="Poppins"/>
                <a:cs typeface="Poppins"/>
                <a:sym typeface="Poppins"/>
                <a:hlinkClick r:id="rId7" tooltip="https://xinzex.com/custom-on-demand-app-development-services-in-usa/"/>
              </a:rPr>
              <a:t>Custom On Demand App Development Services</a:t>
            </a:r>
            <a:r>
              <a:rPr lang="en-US" sz="2335">
                <a:solidFill>
                  <a:srgbClr val="FFFFFF"/>
                </a:solidFill>
                <a:latin typeface="Poppins"/>
                <a:ea typeface="Poppins"/>
                <a:cs typeface="Poppins"/>
                <a:sym typeface="Poppins"/>
              </a:rPr>
              <a:t> help businesses meet these expectations by creating tailored digital solutions that align perfectly with their operational goals. Unlike generic apps, custom solutions provide flexibility, scalability, and long-term value.</a:t>
            </a:r>
          </a:p>
        </p:txBody>
      </p:sp>
      <p:sp>
        <p:nvSpPr>
          <p:cNvPr name="TextBox 18" id="18"/>
          <p:cNvSpPr txBox="true"/>
          <p:nvPr/>
        </p:nvSpPr>
        <p:spPr>
          <a:xfrm rot="0">
            <a:off x="7626841" y="9424317"/>
            <a:ext cx="2819482" cy="277020"/>
          </a:xfrm>
          <a:prstGeom prst="rect">
            <a:avLst/>
          </a:prstGeom>
        </p:spPr>
        <p:txBody>
          <a:bodyPr anchor="t" rtlCol="false" tIns="0" lIns="0" bIns="0" rIns="0">
            <a:spAutoFit/>
          </a:bodyPr>
          <a:lstStyle/>
          <a:p>
            <a:pPr algn="ctr">
              <a:lnSpc>
                <a:spcPts val="2148"/>
              </a:lnSpc>
            </a:pPr>
            <a:r>
              <a:rPr lang="en-US" sz="1404">
                <a:solidFill>
                  <a:srgbClr val="FFFFFF"/>
                </a:solidFill>
                <a:latin typeface="Poppins"/>
                <a:ea typeface="Poppins"/>
                <a:cs typeface="Poppins"/>
                <a:sym typeface="Poppins"/>
              </a:rPr>
              <a:t>www.xinzex.com</a:t>
            </a:r>
          </a:p>
        </p:txBody>
      </p:sp>
      <p:sp>
        <p:nvSpPr>
          <p:cNvPr name="Freeform 19" id="19"/>
          <p:cNvSpPr/>
          <p:nvPr/>
        </p:nvSpPr>
        <p:spPr>
          <a:xfrm flipH="false" flipV="false" rot="0">
            <a:off x="16386290" y="3180027"/>
            <a:ext cx="2928834" cy="3005333"/>
          </a:xfrm>
          <a:custGeom>
            <a:avLst/>
            <a:gdLst/>
            <a:ahLst/>
            <a:cxnLst/>
            <a:rect r="r" b="b" t="t" l="l"/>
            <a:pathLst>
              <a:path h="3005333" w="2928834">
                <a:moveTo>
                  <a:pt x="0" y="0"/>
                </a:moveTo>
                <a:lnTo>
                  <a:pt x="2928834" y="0"/>
                </a:lnTo>
                <a:lnTo>
                  <a:pt x="2928834" y="3005333"/>
                </a:lnTo>
                <a:lnTo>
                  <a:pt x="0" y="3005333"/>
                </a:lnTo>
                <a:lnTo>
                  <a:pt x="0" y="0"/>
                </a:lnTo>
                <a:close/>
              </a:path>
            </a:pathLst>
          </a:custGeom>
          <a:blipFill>
            <a:blip r:embed="rId5">
              <a:alphaModFix amt="21999"/>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259052" y="0"/>
            <a:ext cx="2982832" cy="1557701"/>
          </a:xfrm>
          <a:custGeom>
            <a:avLst/>
            <a:gdLst/>
            <a:ahLst/>
            <a:cxnLst/>
            <a:rect r="r" b="b" t="t" l="l"/>
            <a:pathLst>
              <a:path h="1557701" w="2982832">
                <a:moveTo>
                  <a:pt x="0" y="0"/>
                </a:moveTo>
                <a:lnTo>
                  <a:pt x="2982832" y="0"/>
                </a:lnTo>
                <a:lnTo>
                  <a:pt x="2982832" y="1557701"/>
                </a:lnTo>
                <a:lnTo>
                  <a:pt x="0" y="1557701"/>
                </a:lnTo>
                <a:lnTo>
                  <a:pt x="0" y="0"/>
                </a:lnTo>
                <a:close/>
              </a:path>
            </a:pathLst>
          </a:custGeom>
          <a:blipFill>
            <a:blip r:embed="rId8"/>
            <a:stretch>
              <a:fillRect l="0" t="0" r="0" b="0"/>
            </a:stretch>
          </a:blipFill>
        </p:spPr>
      </p:sp>
      <p:sp>
        <p:nvSpPr>
          <p:cNvPr name="TextBox 21" id="21"/>
          <p:cNvSpPr txBox="true"/>
          <p:nvPr/>
        </p:nvSpPr>
        <p:spPr>
          <a:xfrm rot="0">
            <a:off x="17259300" y="839076"/>
            <a:ext cx="440293" cy="435536"/>
          </a:xfrm>
          <a:prstGeom prst="rect">
            <a:avLst/>
          </a:prstGeom>
        </p:spPr>
        <p:txBody>
          <a:bodyPr anchor="t" rtlCol="false" tIns="0" lIns="0" bIns="0" rIns="0">
            <a:spAutoFit/>
          </a:bodyPr>
          <a:lstStyle/>
          <a:p>
            <a:pPr algn="ctr">
              <a:lnSpc>
                <a:spcPts val="3572"/>
              </a:lnSpc>
            </a:pPr>
            <a:r>
              <a:rPr lang="en-US" sz="2335" b="true">
                <a:solidFill>
                  <a:srgbClr val="FFFFFF"/>
                </a:solidFill>
                <a:latin typeface="Poppins Bold"/>
                <a:ea typeface="Poppins Bold"/>
                <a:cs typeface="Poppins Bold"/>
                <a:sym typeface="Poppins Bold"/>
              </a:rPr>
              <a:t>01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8254B"/>
        </a:solidFill>
      </p:bgPr>
    </p:bg>
    <p:spTree>
      <p:nvGrpSpPr>
        <p:cNvPr id="1" name=""/>
        <p:cNvGrpSpPr/>
        <p:nvPr/>
      </p:nvGrpSpPr>
      <p:grpSpPr>
        <a:xfrm>
          <a:off x="0" y="0"/>
          <a:ext cx="0" cy="0"/>
          <a:chOff x="0" y="0"/>
          <a:chExt cx="0" cy="0"/>
        </a:xfrm>
      </p:grpSpPr>
      <p:grpSp>
        <p:nvGrpSpPr>
          <p:cNvPr name="Group 2" id="2"/>
          <p:cNvGrpSpPr/>
          <p:nvPr/>
        </p:nvGrpSpPr>
        <p:grpSpPr>
          <a:xfrm rot="0">
            <a:off x="8663192" y="-174897"/>
            <a:ext cx="10320567" cy="13258263"/>
            <a:chOff x="0" y="0"/>
            <a:chExt cx="2718174" cy="3491888"/>
          </a:xfrm>
        </p:grpSpPr>
        <p:sp>
          <p:nvSpPr>
            <p:cNvPr name="Freeform 3" id="3"/>
            <p:cNvSpPr/>
            <p:nvPr/>
          </p:nvSpPr>
          <p:spPr>
            <a:xfrm flipH="false" flipV="false" rot="0">
              <a:off x="0" y="0"/>
              <a:ext cx="2718174" cy="3491888"/>
            </a:xfrm>
            <a:custGeom>
              <a:avLst/>
              <a:gdLst/>
              <a:ahLst/>
              <a:cxnLst/>
              <a:rect r="r" b="b" t="t" l="l"/>
              <a:pathLst>
                <a:path h="3491888" w="2718174">
                  <a:moveTo>
                    <a:pt x="0" y="0"/>
                  </a:moveTo>
                  <a:lnTo>
                    <a:pt x="2718174" y="0"/>
                  </a:lnTo>
                  <a:lnTo>
                    <a:pt x="2718174" y="3491888"/>
                  </a:lnTo>
                  <a:lnTo>
                    <a:pt x="0" y="3491888"/>
                  </a:lnTo>
                  <a:close/>
                </a:path>
              </a:pathLst>
            </a:custGeom>
            <a:solidFill>
              <a:srgbClr val="004AAD"/>
            </a:solidFill>
          </p:spPr>
        </p:sp>
        <p:sp>
          <p:nvSpPr>
            <p:cNvPr name="TextBox 4" id="4"/>
            <p:cNvSpPr txBox="true"/>
            <p:nvPr/>
          </p:nvSpPr>
          <p:spPr>
            <a:xfrm>
              <a:off x="0" y="-38100"/>
              <a:ext cx="2718174" cy="352998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522418" y="4182035"/>
            <a:ext cx="9854643" cy="2590467"/>
          </a:xfrm>
          <a:custGeom>
            <a:avLst/>
            <a:gdLst/>
            <a:ahLst/>
            <a:cxnLst/>
            <a:rect r="r" b="b" t="t" l="l"/>
            <a:pathLst>
              <a:path h="2590467" w="9854643">
                <a:moveTo>
                  <a:pt x="0" y="0"/>
                </a:moveTo>
                <a:lnTo>
                  <a:pt x="9854643" y="0"/>
                </a:lnTo>
                <a:lnTo>
                  <a:pt x="9854643" y="2590467"/>
                </a:lnTo>
                <a:lnTo>
                  <a:pt x="0" y="2590467"/>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008815" y="5800386"/>
            <a:ext cx="10066789" cy="8229600"/>
          </a:xfrm>
          <a:custGeom>
            <a:avLst/>
            <a:gdLst/>
            <a:ahLst/>
            <a:cxnLst/>
            <a:rect r="r" b="b" t="t" l="l"/>
            <a:pathLst>
              <a:path h="8229600" w="10066789">
                <a:moveTo>
                  <a:pt x="0" y="0"/>
                </a:moveTo>
                <a:lnTo>
                  <a:pt x="10066789" y="0"/>
                </a:lnTo>
                <a:lnTo>
                  <a:pt x="10066789" y="8229600"/>
                </a:lnTo>
                <a:lnTo>
                  <a:pt x="0" y="8229600"/>
                </a:lnTo>
                <a:lnTo>
                  <a:pt x="0" y="0"/>
                </a:lnTo>
                <a:close/>
              </a:path>
            </a:pathLst>
          </a:custGeom>
          <a:blipFill>
            <a:blip r:embed="rId4"/>
            <a:stretch>
              <a:fillRect l="0" t="0" r="0" b="0"/>
            </a:stretch>
          </a:blipFill>
        </p:spPr>
      </p:sp>
      <p:sp>
        <p:nvSpPr>
          <p:cNvPr name="Freeform 7" id="7"/>
          <p:cNvSpPr/>
          <p:nvPr/>
        </p:nvSpPr>
        <p:spPr>
          <a:xfrm flipH="false" flipV="false" rot="0">
            <a:off x="10328606" y="1028700"/>
            <a:ext cx="6182487" cy="8229600"/>
          </a:xfrm>
          <a:custGeom>
            <a:avLst/>
            <a:gdLst/>
            <a:ahLst/>
            <a:cxnLst/>
            <a:rect r="r" b="b" t="t" l="l"/>
            <a:pathLst>
              <a:path h="8229600" w="6182487">
                <a:moveTo>
                  <a:pt x="0" y="0"/>
                </a:moveTo>
                <a:lnTo>
                  <a:pt x="6182487" y="0"/>
                </a:lnTo>
                <a:lnTo>
                  <a:pt x="6182487" y="8229600"/>
                </a:lnTo>
                <a:lnTo>
                  <a:pt x="0" y="8229600"/>
                </a:lnTo>
                <a:lnTo>
                  <a:pt x="0" y="0"/>
                </a:lnTo>
                <a:close/>
              </a:path>
            </a:pathLst>
          </a:custGeom>
          <a:blipFill>
            <a:blip r:embed="rId5"/>
            <a:stretch>
              <a:fillRect l="0" t="0" r="0" b="0"/>
            </a:stretch>
          </a:blipFill>
        </p:spPr>
      </p:sp>
      <p:sp>
        <p:nvSpPr>
          <p:cNvPr name="Freeform 8" id="8"/>
          <p:cNvSpPr/>
          <p:nvPr/>
        </p:nvSpPr>
        <p:spPr>
          <a:xfrm flipH="false" flipV="false" rot="0">
            <a:off x="11388544" y="2891222"/>
            <a:ext cx="4062611" cy="3988745"/>
          </a:xfrm>
          <a:custGeom>
            <a:avLst/>
            <a:gdLst/>
            <a:ahLst/>
            <a:cxnLst/>
            <a:rect r="r" b="b" t="t" l="l"/>
            <a:pathLst>
              <a:path h="3988745" w="4062611">
                <a:moveTo>
                  <a:pt x="0" y="0"/>
                </a:moveTo>
                <a:lnTo>
                  <a:pt x="4062610" y="0"/>
                </a:lnTo>
                <a:lnTo>
                  <a:pt x="4062610" y="3988744"/>
                </a:lnTo>
                <a:lnTo>
                  <a:pt x="0" y="3988744"/>
                </a:lnTo>
                <a:lnTo>
                  <a:pt x="0" y="0"/>
                </a:lnTo>
                <a:close/>
              </a:path>
            </a:pathLst>
          </a:custGeom>
          <a:blipFill>
            <a:blip r:embed="rId6">
              <a:alphaModFix amt="25000"/>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5240835" y="-4562814"/>
            <a:ext cx="10066789" cy="8229600"/>
          </a:xfrm>
          <a:custGeom>
            <a:avLst/>
            <a:gdLst/>
            <a:ahLst/>
            <a:cxnLst/>
            <a:rect r="r" b="b" t="t" l="l"/>
            <a:pathLst>
              <a:path h="8229600" w="10066789">
                <a:moveTo>
                  <a:pt x="0" y="0"/>
                </a:moveTo>
                <a:lnTo>
                  <a:pt x="10066789" y="0"/>
                </a:lnTo>
                <a:lnTo>
                  <a:pt x="10066789" y="8229600"/>
                </a:lnTo>
                <a:lnTo>
                  <a:pt x="0" y="8229600"/>
                </a:lnTo>
                <a:lnTo>
                  <a:pt x="0" y="0"/>
                </a:lnTo>
                <a:close/>
              </a:path>
            </a:pathLst>
          </a:custGeom>
          <a:blipFill>
            <a:blip r:embed="rId4"/>
            <a:stretch>
              <a:fillRect l="0" t="0" r="0" b="0"/>
            </a:stretch>
          </a:blipFill>
        </p:spPr>
      </p:sp>
      <p:sp>
        <p:nvSpPr>
          <p:cNvPr name="Freeform 10" id="10"/>
          <p:cNvSpPr/>
          <p:nvPr/>
        </p:nvSpPr>
        <p:spPr>
          <a:xfrm flipH="false" flipV="false" rot="0">
            <a:off x="11950676" y="4074841"/>
            <a:ext cx="2671646" cy="2137317"/>
          </a:xfrm>
          <a:custGeom>
            <a:avLst/>
            <a:gdLst/>
            <a:ahLst/>
            <a:cxnLst/>
            <a:rect r="r" b="b" t="t" l="l"/>
            <a:pathLst>
              <a:path h="2137317" w="2671646">
                <a:moveTo>
                  <a:pt x="0" y="0"/>
                </a:moveTo>
                <a:lnTo>
                  <a:pt x="2671646" y="0"/>
                </a:lnTo>
                <a:lnTo>
                  <a:pt x="2671646" y="2137318"/>
                </a:lnTo>
                <a:lnTo>
                  <a:pt x="0" y="21373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0576256" y="2089710"/>
            <a:ext cx="1665479" cy="1603024"/>
          </a:xfrm>
          <a:custGeom>
            <a:avLst/>
            <a:gdLst/>
            <a:ahLst/>
            <a:cxnLst/>
            <a:rect r="r" b="b" t="t" l="l"/>
            <a:pathLst>
              <a:path h="1603024" w="1665479">
                <a:moveTo>
                  <a:pt x="0" y="0"/>
                </a:moveTo>
                <a:lnTo>
                  <a:pt x="1665479" y="0"/>
                </a:lnTo>
                <a:lnTo>
                  <a:pt x="1665479" y="1603024"/>
                </a:lnTo>
                <a:lnTo>
                  <a:pt x="0" y="160302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14845613" y="6772502"/>
            <a:ext cx="1665479" cy="1603024"/>
          </a:xfrm>
          <a:custGeom>
            <a:avLst/>
            <a:gdLst/>
            <a:ahLst/>
            <a:cxnLst/>
            <a:rect r="r" b="b" t="t" l="l"/>
            <a:pathLst>
              <a:path h="1603024" w="1665479">
                <a:moveTo>
                  <a:pt x="0" y="0"/>
                </a:moveTo>
                <a:lnTo>
                  <a:pt x="1665480" y="0"/>
                </a:lnTo>
                <a:lnTo>
                  <a:pt x="1665480" y="1603024"/>
                </a:lnTo>
                <a:lnTo>
                  <a:pt x="0" y="160302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3" id="13"/>
          <p:cNvGrpSpPr/>
          <p:nvPr/>
        </p:nvGrpSpPr>
        <p:grpSpPr>
          <a:xfrm rot="0">
            <a:off x="12916000" y="7031454"/>
            <a:ext cx="1279756" cy="795272"/>
            <a:chOff x="0" y="0"/>
            <a:chExt cx="653981" cy="406400"/>
          </a:xfrm>
        </p:grpSpPr>
        <p:sp>
          <p:nvSpPr>
            <p:cNvPr name="Freeform 14" id="14"/>
            <p:cNvSpPr/>
            <p:nvPr/>
          </p:nvSpPr>
          <p:spPr>
            <a:xfrm flipH="false" flipV="false" rot="0">
              <a:off x="0" y="0"/>
              <a:ext cx="653981" cy="406400"/>
            </a:xfrm>
            <a:custGeom>
              <a:avLst/>
              <a:gdLst/>
              <a:ahLst/>
              <a:cxnLst/>
              <a:rect r="r" b="b" t="t" l="l"/>
              <a:pathLst>
                <a:path h="406400" w="653981">
                  <a:moveTo>
                    <a:pt x="450781" y="0"/>
                  </a:moveTo>
                  <a:cubicBezTo>
                    <a:pt x="563005" y="0"/>
                    <a:pt x="653981" y="90976"/>
                    <a:pt x="653981" y="203200"/>
                  </a:cubicBezTo>
                  <a:cubicBezTo>
                    <a:pt x="653981" y="315424"/>
                    <a:pt x="563005" y="406400"/>
                    <a:pt x="450781" y="406400"/>
                  </a:cubicBezTo>
                  <a:lnTo>
                    <a:pt x="203200" y="406400"/>
                  </a:lnTo>
                  <a:cubicBezTo>
                    <a:pt x="90976" y="406400"/>
                    <a:pt x="0" y="315424"/>
                    <a:pt x="0" y="203200"/>
                  </a:cubicBezTo>
                  <a:cubicBezTo>
                    <a:pt x="0" y="90976"/>
                    <a:pt x="90976" y="0"/>
                    <a:pt x="203200" y="0"/>
                  </a:cubicBezTo>
                  <a:close/>
                </a:path>
              </a:pathLst>
            </a:custGeom>
            <a:ln w="28575" cap="sq">
              <a:solidFill>
                <a:srgbClr val="FFFFFF"/>
              </a:solidFill>
              <a:prstDash val="solid"/>
              <a:miter/>
            </a:ln>
          </p:spPr>
        </p:sp>
        <p:sp>
          <p:nvSpPr>
            <p:cNvPr name="TextBox 15" id="15"/>
            <p:cNvSpPr txBox="true"/>
            <p:nvPr/>
          </p:nvSpPr>
          <p:spPr>
            <a:xfrm>
              <a:off x="0" y="-38100"/>
              <a:ext cx="653981" cy="444500"/>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6186805" y="5143500"/>
            <a:ext cx="1072495" cy="508094"/>
          </a:xfrm>
          <a:custGeom>
            <a:avLst/>
            <a:gdLst/>
            <a:ahLst/>
            <a:cxnLst/>
            <a:rect r="r" b="b" t="t" l="l"/>
            <a:pathLst>
              <a:path h="508094" w="1072495">
                <a:moveTo>
                  <a:pt x="0" y="0"/>
                </a:moveTo>
                <a:lnTo>
                  <a:pt x="1072495" y="0"/>
                </a:lnTo>
                <a:lnTo>
                  <a:pt x="1072495" y="508094"/>
                </a:lnTo>
                <a:lnTo>
                  <a:pt x="0" y="50809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7" id="17"/>
          <p:cNvSpPr txBox="true"/>
          <p:nvPr/>
        </p:nvSpPr>
        <p:spPr>
          <a:xfrm rot="0">
            <a:off x="17259300" y="839076"/>
            <a:ext cx="440293" cy="435536"/>
          </a:xfrm>
          <a:prstGeom prst="rect">
            <a:avLst/>
          </a:prstGeom>
        </p:spPr>
        <p:txBody>
          <a:bodyPr anchor="t" rtlCol="false" tIns="0" lIns="0" bIns="0" rIns="0">
            <a:spAutoFit/>
          </a:bodyPr>
          <a:lstStyle/>
          <a:p>
            <a:pPr algn="ctr">
              <a:lnSpc>
                <a:spcPts val="3572"/>
              </a:lnSpc>
            </a:pPr>
            <a:r>
              <a:rPr lang="en-US" sz="2335" b="true">
                <a:solidFill>
                  <a:srgbClr val="FFFFFF"/>
                </a:solidFill>
                <a:latin typeface="Poppins Bold"/>
                <a:ea typeface="Poppins Bold"/>
                <a:cs typeface="Poppins Bold"/>
                <a:sym typeface="Poppins Bold"/>
              </a:rPr>
              <a:t>02</a:t>
            </a:r>
          </a:p>
        </p:txBody>
      </p:sp>
      <p:sp>
        <p:nvSpPr>
          <p:cNvPr name="TextBox 18" id="18"/>
          <p:cNvSpPr txBox="true"/>
          <p:nvPr/>
        </p:nvSpPr>
        <p:spPr>
          <a:xfrm rot="0">
            <a:off x="1028700" y="2236305"/>
            <a:ext cx="7493718" cy="2181225"/>
          </a:xfrm>
          <a:prstGeom prst="rect">
            <a:avLst/>
          </a:prstGeom>
        </p:spPr>
        <p:txBody>
          <a:bodyPr anchor="t" rtlCol="false" tIns="0" lIns="0" bIns="0" rIns="0">
            <a:spAutoFit/>
          </a:bodyPr>
          <a:lstStyle/>
          <a:p>
            <a:pPr algn="l">
              <a:lnSpc>
                <a:spcPts val="5700"/>
              </a:lnSpc>
            </a:pPr>
            <a:r>
              <a:rPr lang="en-US" sz="5000" b="true">
                <a:solidFill>
                  <a:srgbClr val="FFFFFF"/>
                </a:solidFill>
                <a:latin typeface="Muli Bold"/>
                <a:ea typeface="Muli Bold"/>
                <a:cs typeface="Muli Bold"/>
                <a:sym typeface="Muli Bold"/>
              </a:rPr>
              <a:t>Limitations of Ready-Made On Demand Solutions</a:t>
            </a:r>
          </a:p>
        </p:txBody>
      </p:sp>
      <p:sp>
        <p:nvSpPr>
          <p:cNvPr name="TextBox 19" id="19"/>
          <p:cNvSpPr txBox="true"/>
          <p:nvPr/>
        </p:nvSpPr>
        <p:spPr>
          <a:xfrm rot="0">
            <a:off x="12656272" y="7293691"/>
            <a:ext cx="1842267" cy="280323"/>
          </a:xfrm>
          <a:prstGeom prst="rect">
            <a:avLst/>
          </a:prstGeom>
        </p:spPr>
        <p:txBody>
          <a:bodyPr anchor="t" rtlCol="false" tIns="0" lIns="0" bIns="0" rIns="0">
            <a:spAutoFit/>
          </a:bodyPr>
          <a:lstStyle/>
          <a:p>
            <a:pPr algn="ctr">
              <a:lnSpc>
                <a:spcPts val="2189"/>
              </a:lnSpc>
            </a:pPr>
            <a:r>
              <a:rPr lang="en-US" sz="1920" b="true">
                <a:solidFill>
                  <a:srgbClr val="FFFFFF"/>
                </a:solidFill>
                <a:latin typeface="Muli Bold"/>
                <a:ea typeface="Muli Bold"/>
                <a:cs typeface="Muli Bold"/>
                <a:sym typeface="Muli Bold"/>
              </a:rPr>
              <a:t>Pay</a:t>
            </a:r>
          </a:p>
        </p:txBody>
      </p:sp>
      <p:sp>
        <p:nvSpPr>
          <p:cNvPr name="TextBox 20" id="20"/>
          <p:cNvSpPr txBox="true"/>
          <p:nvPr/>
        </p:nvSpPr>
        <p:spPr>
          <a:xfrm rot="0">
            <a:off x="1028700" y="4774792"/>
            <a:ext cx="6650541" cy="5140394"/>
          </a:xfrm>
          <a:prstGeom prst="rect">
            <a:avLst/>
          </a:prstGeom>
        </p:spPr>
        <p:txBody>
          <a:bodyPr anchor="t" rtlCol="false" tIns="0" lIns="0" bIns="0" rIns="0">
            <a:spAutoFit/>
          </a:bodyPr>
          <a:lstStyle/>
          <a:p>
            <a:pPr algn="l">
              <a:lnSpc>
                <a:spcPts val="3417"/>
              </a:lnSpc>
            </a:pPr>
            <a:r>
              <a:rPr lang="en-US" sz="2233">
                <a:solidFill>
                  <a:srgbClr val="FFFFFF"/>
                </a:solidFill>
                <a:latin typeface="Poppins"/>
                <a:ea typeface="Poppins"/>
                <a:cs typeface="Poppins"/>
                <a:sym typeface="Poppins"/>
              </a:rPr>
              <a:t>Many businesses initially choose pre-built platforms, but these often come with restricted features and limited customization. An experienced On Demand App Development Company understands that every business has unique workflows, branding needs, and customer engagement strategies. Ready-made solutions may limit growth, restrict integrations, and create dependency on third-party systems, making it harder to scale efficiently in competitive markets.</a:t>
            </a:r>
          </a:p>
          <a:p>
            <a:pPr algn="l">
              <a:lnSpc>
                <a:spcPts val="3417"/>
              </a:lnSpc>
            </a:pPr>
          </a:p>
        </p:txBody>
      </p:sp>
      <p:sp>
        <p:nvSpPr>
          <p:cNvPr name="Freeform 21" id="21"/>
          <p:cNvSpPr/>
          <p:nvPr/>
        </p:nvSpPr>
        <p:spPr>
          <a:xfrm flipH="false" flipV="false" rot="0">
            <a:off x="259052" y="0"/>
            <a:ext cx="2982832" cy="1557701"/>
          </a:xfrm>
          <a:custGeom>
            <a:avLst/>
            <a:gdLst/>
            <a:ahLst/>
            <a:cxnLst/>
            <a:rect r="r" b="b" t="t" l="l"/>
            <a:pathLst>
              <a:path h="1557701" w="2982832">
                <a:moveTo>
                  <a:pt x="0" y="0"/>
                </a:moveTo>
                <a:lnTo>
                  <a:pt x="2982832" y="0"/>
                </a:lnTo>
                <a:lnTo>
                  <a:pt x="2982832" y="1557701"/>
                </a:lnTo>
                <a:lnTo>
                  <a:pt x="0" y="1557701"/>
                </a:lnTo>
                <a:lnTo>
                  <a:pt x="0" y="0"/>
                </a:lnTo>
                <a:close/>
              </a:path>
            </a:pathLst>
          </a:custGeom>
          <a:blipFill>
            <a:blip r:embed="rId1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8254B"/>
        </a:solidFill>
      </p:bgPr>
    </p:bg>
    <p:spTree>
      <p:nvGrpSpPr>
        <p:cNvPr id="1" name=""/>
        <p:cNvGrpSpPr/>
        <p:nvPr/>
      </p:nvGrpSpPr>
      <p:grpSpPr>
        <a:xfrm>
          <a:off x="0" y="0"/>
          <a:ext cx="0" cy="0"/>
          <a:chOff x="0" y="0"/>
          <a:chExt cx="0" cy="0"/>
        </a:xfrm>
      </p:grpSpPr>
      <p:grpSp>
        <p:nvGrpSpPr>
          <p:cNvPr name="Group 2" id="2"/>
          <p:cNvGrpSpPr/>
          <p:nvPr/>
        </p:nvGrpSpPr>
        <p:grpSpPr>
          <a:xfrm rot="0">
            <a:off x="7502073" y="-992804"/>
            <a:ext cx="11643177" cy="1164317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2000"/>
                  </a:srgbClr>
                </a:gs>
                <a:gs pos="100000">
                  <a:srgbClr val="004AAD">
                    <a:alpha val="12000"/>
                  </a:srgbClr>
                </a:gs>
              </a:gsLst>
              <a:lin ang="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0" y="1322550"/>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Freeform 6" id="6"/>
          <p:cNvSpPr/>
          <p:nvPr/>
        </p:nvSpPr>
        <p:spPr>
          <a:xfrm flipH="false" flipV="false" rot="0">
            <a:off x="-5240835" y="-4562814"/>
            <a:ext cx="10066789" cy="8229600"/>
          </a:xfrm>
          <a:custGeom>
            <a:avLst/>
            <a:gdLst/>
            <a:ahLst/>
            <a:cxnLst/>
            <a:rect r="r" b="b" t="t" l="l"/>
            <a:pathLst>
              <a:path h="8229600" w="10066789">
                <a:moveTo>
                  <a:pt x="0" y="0"/>
                </a:moveTo>
                <a:lnTo>
                  <a:pt x="10066789" y="0"/>
                </a:lnTo>
                <a:lnTo>
                  <a:pt x="10066789" y="8229600"/>
                </a:lnTo>
                <a:lnTo>
                  <a:pt x="0" y="8229600"/>
                </a:lnTo>
                <a:lnTo>
                  <a:pt x="0" y="0"/>
                </a:lnTo>
                <a:close/>
              </a:path>
            </a:pathLst>
          </a:custGeom>
          <a:blipFill>
            <a:blip r:embed="rId3"/>
            <a:stretch>
              <a:fillRect l="0" t="0" r="0" b="0"/>
            </a:stretch>
          </a:blipFill>
        </p:spPr>
      </p:sp>
      <p:sp>
        <p:nvSpPr>
          <p:cNvPr name="Freeform 7" id="7"/>
          <p:cNvSpPr/>
          <p:nvPr/>
        </p:nvSpPr>
        <p:spPr>
          <a:xfrm flipH="false" flipV="false" rot="0">
            <a:off x="1454579" y="2568103"/>
            <a:ext cx="5320441" cy="5978024"/>
          </a:xfrm>
          <a:custGeom>
            <a:avLst/>
            <a:gdLst/>
            <a:ahLst/>
            <a:cxnLst/>
            <a:rect r="r" b="b" t="t" l="l"/>
            <a:pathLst>
              <a:path h="5978024" w="5320441">
                <a:moveTo>
                  <a:pt x="0" y="0"/>
                </a:moveTo>
                <a:lnTo>
                  <a:pt x="5320442" y="0"/>
                </a:lnTo>
                <a:lnTo>
                  <a:pt x="5320442" y="5978024"/>
                </a:lnTo>
                <a:lnTo>
                  <a:pt x="0" y="5978024"/>
                </a:lnTo>
                <a:lnTo>
                  <a:pt x="0" y="0"/>
                </a:lnTo>
                <a:close/>
              </a:path>
            </a:pathLst>
          </a:custGeom>
          <a:blipFill>
            <a:blip r:embed="rId4">
              <a:alphaModFix amt="25000"/>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08506" y="6571469"/>
            <a:ext cx="1090991" cy="1217130"/>
          </a:xfrm>
          <a:custGeom>
            <a:avLst/>
            <a:gdLst/>
            <a:ahLst/>
            <a:cxnLst/>
            <a:rect r="r" b="b" t="t" l="l"/>
            <a:pathLst>
              <a:path h="1217130" w="1090991">
                <a:moveTo>
                  <a:pt x="0" y="0"/>
                </a:moveTo>
                <a:lnTo>
                  <a:pt x="1090991" y="0"/>
                </a:lnTo>
                <a:lnTo>
                  <a:pt x="1090991" y="1217130"/>
                </a:lnTo>
                <a:lnTo>
                  <a:pt x="0" y="12171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1185656" y="4350855"/>
            <a:ext cx="5933841" cy="2220762"/>
          </a:xfrm>
          <a:prstGeom prst="rect">
            <a:avLst/>
          </a:prstGeom>
        </p:spPr>
        <p:txBody>
          <a:bodyPr anchor="t" rtlCol="false" tIns="0" lIns="0" bIns="0" rIns="0">
            <a:spAutoFit/>
          </a:bodyPr>
          <a:lstStyle/>
          <a:p>
            <a:pPr algn="ctr">
              <a:lnSpc>
                <a:spcPts val="8765"/>
              </a:lnSpc>
            </a:pPr>
            <a:r>
              <a:rPr lang="en-US" sz="7688" b="true">
                <a:solidFill>
                  <a:srgbClr val="FFFFFF"/>
                </a:solidFill>
                <a:latin typeface="Muli Bold"/>
                <a:ea typeface="Muli Bold"/>
                <a:cs typeface="Muli Bold"/>
                <a:sym typeface="Muli Bold"/>
              </a:rPr>
              <a:t>Major</a:t>
            </a:r>
          </a:p>
          <a:p>
            <a:pPr algn="ctr">
              <a:lnSpc>
                <a:spcPts val="8765"/>
              </a:lnSpc>
            </a:pPr>
            <a:r>
              <a:rPr lang="en-US" sz="7688" b="true">
                <a:solidFill>
                  <a:srgbClr val="FFFFFF"/>
                </a:solidFill>
                <a:latin typeface="Muli Bold"/>
                <a:ea typeface="Muli Bold"/>
                <a:cs typeface="Muli Bold"/>
                <a:sym typeface="Muli Bold"/>
              </a:rPr>
              <a:t>Advantages</a:t>
            </a:r>
          </a:p>
        </p:txBody>
      </p:sp>
      <p:sp>
        <p:nvSpPr>
          <p:cNvPr name="TextBox 10" id="10"/>
          <p:cNvSpPr txBox="true"/>
          <p:nvPr/>
        </p:nvSpPr>
        <p:spPr>
          <a:xfrm rot="0">
            <a:off x="17259300" y="839076"/>
            <a:ext cx="668893" cy="435536"/>
          </a:xfrm>
          <a:prstGeom prst="rect">
            <a:avLst/>
          </a:prstGeom>
        </p:spPr>
        <p:txBody>
          <a:bodyPr anchor="t" rtlCol="false" tIns="0" lIns="0" bIns="0" rIns="0">
            <a:spAutoFit/>
          </a:bodyPr>
          <a:lstStyle/>
          <a:p>
            <a:pPr algn="l">
              <a:lnSpc>
                <a:spcPts val="3572"/>
              </a:lnSpc>
            </a:pPr>
            <a:r>
              <a:rPr lang="en-US" sz="2335" b="true">
                <a:solidFill>
                  <a:srgbClr val="FFFFFF"/>
                </a:solidFill>
                <a:latin typeface="Poppins Bold"/>
                <a:ea typeface="Poppins Bold"/>
                <a:cs typeface="Poppins Bold"/>
                <a:sym typeface="Poppins Bold"/>
              </a:rPr>
              <a:t>03</a:t>
            </a:r>
          </a:p>
        </p:txBody>
      </p:sp>
      <p:sp>
        <p:nvSpPr>
          <p:cNvPr name="Freeform 11" id="11"/>
          <p:cNvSpPr/>
          <p:nvPr/>
        </p:nvSpPr>
        <p:spPr>
          <a:xfrm flipH="false" flipV="false" rot="0">
            <a:off x="6775021" y="4220219"/>
            <a:ext cx="1090991" cy="1217130"/>
          </a:xfrm>
          <a:custGeom>
            <a:avLst/>
            <a:gdLst/>
            <a:ahLst/>
            <a:cxnLst/>
            <a:rect r="r" b="b" t="t" l="l"/>
            <a:pathLst>
              <a:path h="1217130" w="1090991">
                <a:moveTo>
                  <a:pt x="0" y="0"/>
                </a:moveTo>
                <a:lnTo>
                  <a:pt x="1090991" y="0"/>
                </a:lnTo>
                <a:lnTo>
                  <a:pt x="1090991" y="1217131"/>
                </a:lnTo>
                <a:lnTo>
                  <a:pt x="0" y="12171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8879026" y="3034115"/>
            <a:ext cx="8576251" cy="4464611"/>
          </a:xfrm>
          <a:prstGeom prst="rect">
            <a:avLst/>
          </a:prstGeom>
        </p:spPr>
        <p:txBody>
          <a:bodyPr anchor="t" rtlCol="false" tIns="0" lIns="0" bIns="0" rIns="0">
            <a:spAutoFit/>
          </a:bodyPr>
          <a:lstStyle/>
          <a:p>
            <a:pPr algn="l">
              <a:lnSpc>
                <a:spcPts val="3572"/>
              </a:lnSpc>
            </a:pPr>
            <a:r>
              <a:rPr lang="en-US" sz="2335">
                <a:solidFill>
                  <a:srgbClr val="FFFFFF"/>
                </a:solidFill>
                <a:latin typeface="Poppins"/>
                <a:ea typeface="Poppins"/>
                <a:cs typeface="Poppins"/>
                <a:sym typeface="Poppins"/>
              </a:rPr>
              <a:t>Working with a professional </a:t>
            </a:r>
            <a:r>
              <a:rPr lang="en-US" sz="2335" u="sng">
                <a:solidFill>
                  <a:srgbClr val="FFFFFF"/>
                </a:solidFill>
                <a:latin typeface="Poppins"/>
                <a:ea typeface="Poppins"/>
                <a:cs typeface="Poppins"/>
                <a:sym typeface="Poppins"/>
                <a:hlinkClick r:id="rId8" tooltip="https://xinzex.com/custom-on-demand-app-development-services-in-usa/"/>
              </a:rPr>
              <a:t>On Demand App Development Company in USA</a:t>
            </a:r>
            <a:r>
              <a:rPr lang="en-US" sz="2335">
                <a:solidFill>
                  <a:srgbClr val="FFFFFF"/>
                </a:solidFill>
                <a:latin typeface="Poppins"/>
                <a:ea typeface="Poppins"/>
                <a:cs typeface="Poppins"/>
                <a:sym typeface="Poppins"/>
              </a:rPr>
              <a:t> ensures high-quality standards, advanced security protocols, and scalable architecture. Businesses benefit from industry expertise, modern technology stacks, and compliance with U.S. regulations. Custom development enables seamless integration of payment gateways, analytics tools, and CRM systems, giving companies full control over their digital ecosystem.</a:t>
            </a:r>
          </a:p>
          <a:p>
            <a:pPr algn="l">
              <a:lnSpc>
                <a:spcPts val="3572"/>
              </a:lnSpc>
            </a:pPr>
          </a:p>
        </p:txBody>
      </p:sp>
      <p:sp>
        <p:nvSpPr>
          <p:cNvPr name="TextBox 13" id="13"/>
          <p:cNvSpPr txBox="true"/>
          <p:nvPr/>
        </p:nvSpPr>
        <p:spPr>
          <a:xfrm rot="0">
            <a:off x="8879026" y="2105901"/>
            <a:ext cx="7799722" cy="704850"/>
          </a:xfrm>
          <a:prstGeom prst="rect">
            <a:avLst/>
          </a:prstGeom>
        </p:spPr>
        <p:txBody>
          <a:bodyPr anchor="t" rtlCol="false" tIns="0" lIns="0" bIns="0" rIns="0">
            <a:spAutoFit/>
          </a:bodyPr>
          <a:lstStyle/>
          <a:p>
            <a:pPr algn="l">
              <a:lnSpc>
                <a:spcPts val="2849"/>
              </a:lnSpc>
            </a:pPr>
            <a:r>
              <a:rPr lang="en-US" sz="2499" b="true">
                <a:solidFill>
                  <a:srgbClr val="AFE7FF"/>
                </a:solidFill>
                <a:latin typeface="Muli Bold"/>
                <a:ea typeface="Muli Bold"/>
                <a:cs typeface="Muli Bold"/>
                <a:sym typeface="Muli Bold"/>
              </a:rPr>
              <a:t>Advantages of Partnering with an On Demand App Development Company in USA</a:t>
            </a:r>
          </a:p>
        </p:txBody>
      </p:sp>
      <p:sp>
        <p:nvSpPr>
          <p:cNvPr name="Freeform 14" id="14"/>
          <p:cNvSpPr/>
          <p:nvPr/>
        </p:nvSpPr>
        <p:spPr>
          <a:xfrm flipH="false" flipV="false" rot="0">
            <a:off x="12630904" y="9044055"/>
            <a:ext cx="1072495" cy="508094"/>
          </a:xfrm>
          <a:custGeom>
            <a:avLst/>
            <a:gdLst/>
            <a:ahLst/>
            <a:cxnLst/>
            <a:rect r="r" b="b" t="t" l="l"/>
            <a:pathLst>
              <a:path h="508094" w="1072495">
                <a:moveTo>
                  <a:pt x="0" y="0"/>
                </a:moveTo>
                <a:lnTo>
                  <a:pt x="1072495" y="0"/>
                </a:lnTo>
                <a:lnTo>
                  <a:pt x="1072495" y="508095"/>
                </a:lnTo>
                <a:lnTo>
                  <a:pt x="0" y="50809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0">
            <a:off x="259052" y="0"/>
            <a:ext cx="2982832" cy="1557701"/>
          </a:xfrm>
          <a:custGeom>
            <a:avLst/>
            <a:gdLst/>
            <a:ahLst/>
            <a:cxnLst/>
            <a:rect r="r" b="b" t="t" l="l"/>
            <a:pathLst>
              <a:path h="1557701" w="2982832">
                <a:moveTo>
                  <a:pt x="0" y="0"/>
                </a:moveTo>
                <a:lnTo>
                  <a:pt x="2982832" y="0"/>
                </a:lnTo>
                <a:lnTo>
                  <a:pt x="2982832" y="1557701"/>
                </a:lnTo>
                <a:lnTo>
                  <a:pt x="0" y="1557701"/>
                </a:lnTo>
                <a:lnTo>
                  <a:pt x="0" y="0"/>
                </a:lnTo>
                <a:close/>
              </a:path>
            </a:pathLst>
          </a:custGeom>
          <a:blipFill>
            <a:blip r:embed="rId11"/>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8254B"/>
        </a:solidFill>
      </p:bgPr>
    </p:bg>
    <p:spTree>
      <p:nvGrpSpPr>
        <p:cNvPr id="1" name=""/>
        <p:cNvGrpSpPr/>
        <p:nvPr/>
      </p:nvGrpSpPr>
      <p:grpSpPr>
        <a:xfrm>
          <a:off x="0" y="0"/>
          <a:ext cx="0" cy="0"/>
          <a:chOff x="0" y="0"/>
          <a:chExt cx="0" cy="0"/>
        </a:xfrm>
      </p:grpSpPr>
      <p:grpSp>
        <p:nvGrpSpPr>
          <p:cNvPr name="Group 2" id="2"/>
          <p:cNvGrpSpPr/>
          <p:nvPr/>
        </p:nvGrpSpPr>
        <p:grpSpPr>
          <a:xfrm rot="0">
            <a:off x="299765" y="1546159"/>
            <a:ext cx="8343085" cy="834308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1000"/>
                  </a:srgbClr>
                </a:gs>
                <a:gs pos="100000">
                  <a:srgbClr val="004AAD">
                    <a:alpha val="11000"/>
                  </a:srgbClr>
                </a:gs>
              </a:gsLst>
              <a:lin ang="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28700" y="2664850"/>
            <a:ext cx="7614150" cy="6424439"/>
          </a:xfrm>
          <a:custGeom>
            <a:avLst/>
            <a:gdLst/>
            <a:ahLst/>
            <a:cxnLst/>
            <a:rect r="r" b="b" t="t" l="l"/>
            <a:pathLst>
              <a:path h="6424439" w="7614150">
                <a:moveTo>
                  <a:pt x="0" y="0"/>
                </a:moveTo>
                <a:lnTo>
                  <a:pt x="7614150" y="0"/>
                </a:lnTo>
                <a:lnTo>
                  <a:pt x="7614150" y="6424439"/>
                </a:lnTo>
                <a:lnTo>
                  <a:pt x="0" y="6424439"/>
                </a:lnTo>
                <a:lnTo>
                  <a:pt x="0" y="0"/>
                </a:lnTo>
                <a:close/>
              </a:path>
            </a:pathLst>
          </a:custGeom>
          <a:blipFill>
            <a:blip r:embed="rId2"/>
            <a:stretch>
              <a:fillRect l="0" t="0" r="0" b="0"/>
            </a:stretch>
          </a:blipFill>
        </p:spPr>
      </p:sp>
      <p:sp>
        <p:nvSpPr>
          <p:cNvPr name="Freeform 6" id="6"/>
          <p:cNvSpPr/>
          <p:nvPr/>
        </p:nvSpPr>
        <p:spPr>
          <a:xfrm flipH="true" flipV="false" rot="0">
            <a:off x="1488617" y="3167147"/>
            <a:ext cx="3856954" cy="3758150"/>
          </a:xfrm>
          <a:custGeom>
            <a:avLst/>
            <a:gdLst/>
            <a:ahLst/>
            <a:cxnLst/>
            <a:rect r="r" b="b" t="t" l="l"/>
            <a:pathLst>
              <a:path h="3758150" w="3856954">
                <a:moveTo>
                  <a:pt x="3856954" y="0"/>
                </a:moveTo>
                <a:lnTo>
                  <a:pt x="0" y="0"/>
                </a:lnTo>
                <a:lnTo>
                  <a:pt x="0" y="3758150"/>
                </a:lnTo>
                <a:lnTo>
                  <a:pt x="3856954" y="3758150"/>
                </a:lnTo>
                <a:lnTo>
                  <a:pt x="385695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4605882" y="3167147"/>
            <a:ext cx="3317465" cy="3323508"/>
          </a:xfrm>
          <a:custGeom>
            <a:avLst/>
            <a:gdLst/>
            <a:ahLst/>
            <a:cxnLst/>
            <a:rect r="r" b="b" t="t" l="l"/>
            <a:pathLst>
              <a:path h="3323508" w="3317465">
                <a:moveTo>
                  <a:pt x="0" y="0"/>
                </a:moveTo>
                <a:lnTo>
                  <a:pt x="3317466" y="0"/>
                </a:lnTo>
                <a:lnTo>
                  <a:pt x="3317466" y="3323508"/>
                </a:lnTo>
                <a:lnTo>
                  <a:pt x="0" y="33235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5240835" y="-4562814"/>
            <a:ext cx="10066789" cy="8229600"/>
          </a:xfrm>
          <a:custGeom>
            <a:avLst/>
            <a:gdLst/>
            <a:ahLst/>
            <a:cxnLst/>
            <a:rect r="r" b="b" t="t" l="l"/>
            <a:pathLst>
              <a:path h="8229600" w="10066789">
                <a:moveTo>
                  <a:pt x="0" y="0"/>
                </a:moveTo>
                <a:lnTo>
                  <a:pt x="10066789" y="0"/>
                </a:lnTo>
                <a:lnTo>
                  <a:pt x="10066789" y="8229600"/>
                </a:lnTo>
                <a:lnTo>
                  <a:pt x="0" y="8229600"/>
                </a:lnTo>
                <a:lnTo>
                  <a:pt x="0" y="0"/>
                </a:lnTo>
                <a:close/>
              </a:path>
            </a:pathLst>
          </a:custGeom>
          <a:blipFill>
            <a:blip r:embed="rId7"/>
            <a:stretch>
              <a:fillRect l="0" t="0" r="0" b="0"/>
            </a:stretch>
          </a:blipFill>
        </p:spPr>
      </p:sp>
      <p:sp>
        <p:nvSpPr>
          <p:cNvPr name="Freeform 9" id="9"/>
          <p:cNvSpPr/>
          <p:nvPr/>
        </p:nvSpPr>
        <p:spPr>
          <a:xfrm flipH="false" flipV="false" rot="0">
            <a:off x="11148518" y="6172200"/>
            <a:ext cx="10066789" cy="8229600"/>
          </a:xfrm>
          <a:custGeom>
            <a:avLst/>
            <a:gdLst/>
            <a:ahLst/>
            <a:cxnLst/>
            <a:rect r="r" b="b" t="t" l="l"/>
            <a:pathLst>
              <a:path h="8229600" w="10066789">
                <a:moveTo>
                  <a:pt x="0" y="0"/>
                </a:moveTo>
                <a:lnTo>
                  <a:pt x="10066789" y="0"/>
                </a:lnTo>
                <a:lnTo>
                  <a:pt x="10066789" y="8229600"/>
                </a:lnTo>
                <a:lnTo>
                  <a:pt x="0" y="8229600"/>
                </a:lnTo>
                <a:lnTo>
                  <a:pt x="0" y="0"/>
                </a:lnTo>
                <a:close/>
              </a:path>
            </a:pathLst>
          </a:custGeom>
          <a:blipFill>
            <a:blip r:embed="rId7"/>
            <a:stretch>
              <a:fillRect l="0" t="0" r="0" b="0"/>
            </a:stretch>
          </a:blipFill>
        </p:spPr>
      </p:sp>
      <p:sp>
        <p:nvSpPr>
          <p:cNvPr name="Freeform 10" id="10"/>
          <p:cNvSpPr/>
          <p:nvPr/>
        </p:nvSpPr>
        <p:spPr>
          <a:xfrm flipH="false" flipV="false" rot="0">
            <a:off x="15645666" y="9089289"/>
            <a:ext cx="1072495" cy="508094"/>
          </a:xfrm>
          <a:custGeom>
            <a:avLst/>
            <a:gdLst/>
            <a:ahLst/>
            <a:cxnLst/>
            <a:rect r="r" b="b" t="t" l="l"/>
            <a:pathLst>
              <a:path h="508094" w="1072495">
                <a:moveTo>
                  <a:pt x="0" y="0"/>
                </a:moveTo>
                <a:lnTo>
                  <a:pt x="1072494" y="0"/>
                </a:lnTo>
                <a:lnTo>
                  <a:pt x="1072494" y="508095"/>
                </a:lnTo>
                <a:lnTo>
                  <a:pt x="0" y="5080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3310715" y="2537409"/>
            <a:ext cx="3856954" cy="3758150"/>
          </a:xfrm>
          <a:custGeom>
            <a:avLst/>
            <a:gdLst/>
            <a:ahLst/>
            <a:cxnLst/>
            <a:rect r="r" b="b" t="t" l="l"/>
            <a:pathLst>
              <a:path h="3758150" w="3856954">
                <a:moveTo>
                  <a:pt x="0" y="0"/>
                </a:moveTo>
                <a:lnTo>
                  <a:pt x="3856954" y="0"/>
                </a:lnTo>
                <a:lnTo>
                  <a:pt x="3856954" y="3758150"/>
                </a:lnTo>
                <a:lnTo>
                  <a:pt x="0" y="37581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9833970" y="2812577"/>
            <a:ext cx="7217209" cy="2905125"/>
          </a:xfrm>
          <a:prstGeom prst="rect">
            <a:avLst/>
          </a:prstGeom>
        </p:spPr>
        <p:txBody>
          <a:bodyPr anchor="t" rtlCol="false" tIns="0" lIns="0" bIns="0" rIns="0">
            <a:spAutoFit/>
          </a:bodyPr>
          <a:lstStyle/>
          <a:p>
            <a:pPr algn="l">
              <a:lnSpc>
                <a:spcPts val="5700"/>
              </a:lnSpc>
            </a:pPr>
            <a:r>
              <a:rPr lang="en-US" sz="5000" b="true">
                <a:solidFill>
                  <a:srgbClr val="FFFFFF"/>
                </a:solidFill>
                <a:latin typeface="Muli Bold"/>
                <a:ea typeface="Muli Bold"/>
                <a:cs typeface="Muli Bold"/>
                <a:sym typeface="Muli Bold"/>
              </a:rPr>
              <a:t>Industry-Specific On Demand App Development Services in USA</a:t>
            </a:r>
          </a:p>
        </p:txBody>
      </p:sp>
      <p:sp>
        <p:nvSpPr>
          <p:cNvPr name="TextBox 13" id="13"/>
          <p:cNvSpPr txBox="true"/>
          <p:nvPr/>
        </p:nvSpPr>
        <p:spPr>
          <a:xfrm rot="0">
            <a:off x="17259300" y="839076"/>
            <a:ext cx="668893" cy="435536"/>
          </a:xfrm>
          <a:prstGeom prst="rect">
            <a:avLst/>
          </a:prstGeom>
        </p:spPr>
        <p:txBody>
          <a:bodyPr anchor="t" rtlCol="false" tIns="0" lIns="0" bIns="0" rIns="0">
            <a:spAutoFit/>
          </a:bodyPr>
          <a:lstStyle/>
          <a:p>
            <a:pPr algn="l">
              <a:lnSpc>
                <a:spcPts val="3572"/>
              </a:lnSpc>
            </a:pPr>
            <a:r>
              <a:rPr lang="en-US" sz="2335" b="true">
                <a:solidFill>
                  <a:srgbClr val="FFFFFF"/>
                </a:solidFill>
                <a:latin typeface="Poppins Bold"/>
                <a:ea typeface="Poppins Bold"/>
                <a:cs typeface="Poppins Bold"/>
                <a:sym typeface="Poppins Bold"/>
              </a:rPr>
              <a:t>04</a:t>
            </a:r>
          </a:p>
        </p:txBody>
      </p:sp>
      <p:sp>
        <p:nvSpPr>
          <p:cNvPr name="TextBox 14" id="14"/>
          <p:cNvSpPr txBox="true"/>
          <p:nvPr/>
        </p:nvSpPr>
        <p:spPr>
          <a:xfrm rot="0">
            <a:off x="9833970" y="6086475"/>
            <a:ext cx="6650541" cy="3430905"/>
          </a:xfrm>
          <a:prstGeom prst="rect">
            <a:avLst/>
          </a:prstGeom>
        </p:spPr>
        <p:txBody>
          <a:bodyPr anchor="t" rtlCol="false" tIns="0" lIns="0" bIns="0" rIns="0">
            <a:spAutoFit/>
          </a:bodyPr>
          <a:lstStyle/>
          <a:p>
            <a:pPr algn="l">
              <a:lnSpc>
                <a:spcPts val="3060"/>
              </a:lnSpc>
            </a:pPr>
            <a:r>
              <a:rPr lang="en-US" sz="2000">
                <a:solidFill>
                  <a:srgbClr val="FFFFFF"/>
                </a:solidFill>
                <a:latin typeface="Poppins"/>
                <a:ea typeface="Poppins"/>
                <a:cs typeface="Poppins"/>
                <a:sym typeface="Poppins"/>
              </a:rPr>
              <a:t>From food delivery and taxi booking to healthcare and home services, On Demand App Development Services in USA are tailored to meet industry-specific demands. Custom features such as scheduling systems, location tracking, service management dashboards, and customer feedback modules ensure that businesses operate smoothly while delivering exceptional user experiences.</a:t>
            </a:r>
          </a:p>
          <a:p>
            <a:pPr algn="l">
              <a:lnSpc>
                <a:spcPts val="3060"/>
              </a:lnSpc>
            </a:pPr>
          </a:p>
        </p:txBody>
      </p:sp>
      <p:sp>
        <p:nvSpPr>
          <p:cNvPr name="Freeform 15" id="15"/>
          <p:cNvSpPr/>
          <p:nvPr/>
        </p:nvSpPr>
        <p:spPr>
          <a:xfrm flipH="false" flipV="false" rot="0">
            <a:off x="259052" y="0"/>
            <a:ext cx="2982832" cy="1557701"/>
          </a:xfrm>
          <a:custGeom>
            <a:avLst/>
            <a:gdLst/>
            <a:ahLst/>
            <a:cxnLst/>
            <a:rect r="r" b="b" t="t" l="l"/>
            <a:pathLst>
              <a:path h="1557701" w="2982832">
                <a:moveTo>
                  <a:pt x="0" y="0"/>
                </a:moveTo>
                <a:lnTo>
                  <a:pt x="2982832" y="0"/>
                </a:lnTo>
                <a:lnTo>
                  <a:pt x="2982832" y="1557701"/>
                </a:lnTo>
                <a:lnTo>
                  <a:pt x="0" y="1557701"/>
                </a:lnTo>
                <a:lnTo>
                  <a:pt x="0" y="0"/>
                </a:lnTo>
                <a:close/>
              </a:path>
            </a:pathLst>
          </a:custGeom>
          <a:blipFill>
            <a:blip r:embed="rId10"/>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8254B"/>
        </a:solidFill>
      </p:bgPr>
    </p:bg>
    <p:spTree>
      <p:nvGrpSpPr>
        <p:cNvPr id="1" name=""/>
        <p:cNvGrpSpPr/>
        <p:nvPr/>
      </p:nvGrpSpPr>
      <p:grpSpPr>
        <a:xfrm>
          <a:off x="0" y="0"/>
          <a:ext cx="0" cy="0"/>
          <a:chOff x="0" y="0"/>
          <a:chExt cx="0" cy="0"/>
        </a:xfrm>
      </p:grpSpPr>
      <p:sp>
        <p:nvSpPr>
          <p:cNvPr name="Freeform 2" id="2"/>
          <p:cNvSpPr/>
          <p:nvPr/>
        </p:nvSpPr>
        <p:spPr>
          <a:xfrm flipH="false" flipV="false" rot="0">
            <a:off x="-4954871" y="-4671753"/>
            <a:ext cx="10066789" cy="8229600"/>
          </a:xfrm>
          <a:custGeom>
            <a:avLst/>
            <a:gdLst/>
            <a:ahLst/>
            <a:cxnLst/>
            <a:rect r="r" b="b" t="t" l="l"/>
            <a:pathLst>
              <a:path h="8229600" w="10066789">
                <a:moveTo>
                  <a:pt x="0" y="0"/>
                </a:moveTo>
                <a:lnTo>
                  <a:pt x="10066789" y="0"/>
                </a:lnTo>
                <a:lnTo>
                  <a:pt x="10066789"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98041" y="7172126"/>
            <a:ext cx="18786321" cy="6857007"/>
          </a:xfrm>
          <a:custGeom>
            <a:avLst/>
            <a:gdLst/>
            <a:ahLst/>
            <a:cxnLst/>
            <a:rect r="r" b="b" t="t" l="l"/>
            <a:pathLst>
              <a:path h="6857007" w="18786321">
                <a:moveTo>
                  <a:pt x="0" y="0"/>
                </a:moveTo>
                <a:lnTo>
                  <a:pt x="18786321" y="0"/>
                </a:lnTo>
                <a:lnTo>
                  <a:pt x="18786321" y="6857007"/>
                </a:lnTo>
                <a:lnTo>
                  <a:pt x="0" y="6857007"/>
                </a:lnTo>
                <a:lnTo>
                  <a:pt x="0" y="0"/>
                </a:lnTo>
                <a:close/>
              </a:path>
            </a:pathLst>
          </a:custGeom>
          <a:blipFill>
            <a:blip r:embed="rId3">
              <a:alphaModFix amt="59000"/>
            </a:blip>
            <a:stretch>
              <a:fillRect l="0" t="0" r="0" b="0"/>
            </a:stretch>
          </a:blipFill>
        </p:spPr>
      </p:sp>
      <p:sp>
        <p:nvSpPr>
          <p:cNvPr name="TextBox 4" id="4"/>
          <p:cNvSpPr txBox="true"/>
          <p:nvPr/>
        </p:nvSpPr>
        <p:spPr>
          <a:xfrm rot="0">
            <a:off x="17259300" y="839076"/>
            <a:ext cx="668893" cy="435536"/>
          </a:xfrm>
          <a:prstGeom prst="rect">
            <a:avLst/>
          </a:prstGeom>
        </p:spPr>
        <p:txBody>
          <a:bodyPr anchor="t" rtlCol="false" tIns="0" lIns="0" bIns="0" rIns="0">
            <a:spAutoFit/>
          </a:bodyPr>
          <a:lstStyle/>
          <a:p>
            <a:pPr algn="l">
              <a:lnSpc>
                <a:spcPts val="3572"/>
              </a:lnSpc>
            </a:pPr>
            <a:r>
              <a:rPr lang="en-US" sz="2335" b="true">
                <a:solidFill>
                  <a:srgbClr val="FFFFFF"/>
                </a:solidFill>
                <a:latin typeface="Poppins Bold"/>
                <a:ea typeface="Poppins Bold"/>
                <a:cs typeface="Poppins Bold"/>
                <a:sym typeface="Poppins Bold"/>
              </a:rPr>
              <a:t>05</a:t>
            </a:r>
          </a:p>
        </p:txBody>
      </p:sp>
      <p:sp>
        <p:nvSpPr>
          <p:cNvPr name="TextBox 5" id="5"/>
          <p:cNvSpPr txBox="true"/>
          <p:nvPr/>
        </p:nvSpPr>
        <p:spPr>
          <a:xfrm rot="0">
            <a:off x="5397141" y="1893405"/>
            <a:ext cx="7493718" cy="1123730"/>
          </a:xfrm>
          <a:prstGeom prst="rect">
            <a:avLst/>
          </a:prstGeom>
        </p:spPr>
        <p:txBody>
          <a:bodyPr anchor="t" rtlCol="false" tIns="0" lIns="0" bIns="0" rIns="0">
            <a:spAutoFit/>
          </a:bodyPr>
          <a:lstStyle/>
          <a:p>
            <a:pPr algn="ctr">
              <a:lnSpc>
                <a:spcPts val="8765"/>
              </a:lnSpc>
            </a:pPr>
            <a:r>
              <a:rPr lang="en-US" sz="7688" b="true">
                <a:solidFill>
                  <a:srgbClr val="FFFFFF"/>
                </a:solidFill>
                <a:latin typeface="Muli Bold"/>
                <a:ea typeface="Muli Bold"/>
                <a:cs typeface="Muli Bold"/>
                <a:sym typeface="Muli Bold"/>
              </a:rPr>
              <a:t>Thank You!</a:t>
            </a:r>
          </a:p>
        </p:txBody>
      </p:sp>
      <p:sp>
        <p:nvSpPr>
          <p:cNvPr name="TextBox 6" id="6"/>
          <p:cNvSpPr txBox="true"/>
          <p:nvPr/>
        </p:nvSpPr>
        <p:spPr>
          <a:xfrm rot="0">
            <a:off x="7626841" y="1097752"/>
            <a:ext cx="2851073" cy="426606"/>
          </a:xfrm>
          <a:prstGeom prst="rect">
            <a:avLst/>
          </a:prstGeom>
        </p:spPr>
        <p:txBody>
          <a:bodyPr anchor="t" rtlCol="false" tIns="0" lIns="0" bIns="0" rIns="0">
            <a:spAutoFit/>
          </a:bodyPr>
          <a:lstStyle/>
          <a:p>
            <a:pPr algn="ctr">
              <a:lnSpc>
                <a:spcPts val="3334"/>
              </a:lnSpc>
            </a:pPr>
            <a:r>
              <a:rPr lang="en-US" sz="2925" b="true">
                <a:solidFill>
                  <a:srgbClr val="FFFFFF"/>
                </a:solidFill>
                <a:latin typeface="Muli Bold"/>
                <a:ea typeface="Muli Bold"/>
                <a:cs typeface="Muli Bold"/>
                <a:sym typeface="Muli Bold"/>
              </a:rPr>
              <a:t>contact us</a:t>
            </a:r>
          </a:p>
        </p:txBody>
      </p:sp>
      <p:sp>
        <p:nvSpPr>
          <p:cNvPr name="Freeform 7" id="7"/>
          <p:cNvSpPr/>
          <p:nvPr/>
        </p:nvSpPr>
        <p:spPr>
          <a:xfrm flipH="false" flipV="false" rot="0">
            <a:off x="2332141" y="6909067"/>
            <a:ext cx="10066789" cy="8229600"/>
          </a:xfrm>
          <a:custGeom>
            <a:avLst/>
            <a:gdLst/>
            <a:ahLst/>
            <a:cxnLst/>
            <a:rect r="r" b="b" t="t" l="l"/>
            <a:pathLst>
              <a:path h="8229600" w="10066789">
                <a:moveTo>
                  <a:pt x="0" y="0"/>
                </a:moveTo>
                <a:lnTo>
                  <a:pt x="10066789" y="0"/>
                </a:lnTo>
                <a:lnTo>
                  <a:pt x="10066789" y="8229600"/>
                </a:lnTo>
                <a:lnTo>
                  <a:pt x="0" y="8229600"/>
                </a:lnTo>
                <a:lnTo>
                  <a:pt x="0" y="0"/>
                </a:lnTo>
                <a:close/>
              </a:path>
            </a:pathLst>
          </a:custGeom>
          <a:blipFill>
            <a:blip r:embed="rId2"/>
            <a:stretch>
              <a:fillRect l="0" t="0" r="0" b="0"/>
            </a:stretch>
          </a:blipFill>
        </p:spPr>
      </p:sp>
      <p:sp>
        <p:nvSpPr>
          <p:cNvPr name="Freeform 8" id="8"/>
          <p:cNvSpPr/>
          <p:nvPr/>
        </p:nvSpPr>
        <p:spPr>
          <a:xfrm flipH="false" flipV="false" rot="0">
            <a:off x="-192096" y="3350220"/>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4"/>
            <a:stretch>
              <a:fillRect l="0" t="0" r="0" b="0"/>
            </a:stretch>
          </a:blipFill>
        </p:spPr>
      </p:sp>
      <p:sp>
        <p:nvSpPr>
          <p:cNvPr name="Freeform 9" id="9"/>
          <p:cNvSpPr/>
          <p:nvPr/>
        </p:nvSpPr>
        <p:spPr>
          <a:xfrm flipH="false" flipV="false" rot="0">
            <a:off x="-4212588" y="6807456"/>
            <a:ext cx="10066789" cy="8229600"/>
          </a:xfrm>
          <a:custGeom>
            <a:avLst/>
            <a:gdLst/>
            <a:ahLst/>
            <a:cxnLst/>
            <a:rect r="r" b="b" t="t" l="l"/>
            <a:pathLst>
              <a:path h="8229600" w="10066789">
                <a:moveTo>
                  <a:pt x="0" y="0"/>
                </a:moveTo>
                <a:lnTo>
                  <a:pt x="10066789" y="0"/>
                </a:lnTo>
                <a:lnTo>
                  <a:pt x="10066789" y="8229600"/>
                </a:lnTo>
                <a:lnTo>
                  <a:pt x="0" y="8229600"/>
                </a:lnTo>
                <a:lnTo>
                  <a:pt x="0" y="0"/>
                </a:lnTo>
                <a:close/>
              </a:path>
            </a:pathLst>
          </a:custGeom>
          <a:blipFill>
            <a:blip r:embed="rId2"/>
            <a:stretch>
              <a:fillRect l="0" t="0" r="0" b="0"/>
            </a:stretch>
          </a:blipFill>
        </p:spPr>
      </p:sp>
      <p:sp>
        <p:nvSpPr>
          <p:cNvPr name="Freeform 10" id="10"/>
          <p:cNvSpPr/>
          <p:nvPr/>
        </p:nvSpPr>
        <p:spPr>
          <a:xfrm flipH="false" flipV="false" rot="0">
            <a:off x="992510" y="3350220"/>
            <a:ext cx="6182487" cy="8229600"/>
          </a:xfrm>
          <a:custGeom>
            <a:avLst/>
            <a:gdLst/>
            <a:ahLst/>
            <a:cxnLst/>
            <a:rect r="r" b="b" t="t" l="l"/>
            <a:pathLst>
              <a:path h="8229600" w="6182487">
                <a:moveTo>
                  <a:pt x="0" y="0"/>
                </a:moveTo>
                <a:lnTo>
                  <a:pt x="6182487" y="0"/>
                </a:lnTo>
                <a:lnTo>
                  <a:pt x="6182487" y="8229600"/>
                </a:lnTo>
                <a:lnTo>
                  <a:pt x="0" y="8229600"/>
                </a:lnTo>
                <a:lnTo>
                  <a:pt x="0" y="0"/>
                </a:lnTo>
                <a:close/>
              </a:path>
            </a:pathLst>
          </a:custGeom>
          <a:blipFill>
            <a:blip r:embed="rId5"/>
            <a:stretch>
              <a:fillRect l="0" t="0" r="0" b="0"/>
            </a:stretch>
          </a:blipFill>
        </p:spPr>
      </p:sp>
      <p:sp>
        <p:nvSpPr>
          <p:cNvPr name="Freeform 11" id="11"/>
          <p:cNvSpPr/>
          <p:nvPr/>
        </p:nvSpPr>
        <p:spPr>
          <a:xfrm flipH="false" flipV="false" rot="0">
            <a:off x="4501870" y="6157754"/>
            <a:ext cx="3327844" cy="4114800"/>
          </a:xfrm>
          <a:custGeom>
            <a:avLst/>
            <a:gdLst/>
            <a:ahLst/>
            <a:cxnLst/>
            <a:rect r="r" b="b" t="t" l="l"/>
            <a:pathLst>
              <a:path h="4114800" w="3327844">
                <a:moveTo>
                  <a:pt x="0" y="0"/>
                </a:moveTo>
                <a:lnTo>
                  <a:pt x="3327845" y="0"/>
                </a:lnTo>
                <a:lnTo>
                  <a:pt x="332784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true" flipV="false" rot="0">
            <a:off x="992510" y="4038665"/>
            <a:ext cx="2024086" cy="2502734"/>
          </a:xfrm>
          <a:custGeom>
            <a:avLst/>
            <a:gdLst/>
            <a:ahLst/>
            <a:cxnLst/>
            <a:rect r="r" b="b" t="t" l="l"/>
            <a:pathLst>
              <a:path h="2502734" w="2024086">
                <a:moveTo>
                  <a:pt x="2024086" y="0"/>
                </a:moveTo>
                <a:lnTo>
                  <a:pt x="0" y="0"/>
                </a:lnTo>
                <a:lnTo>
                  <a:pt x="0" y="2502734"/>
                </a:lnTo>
                <a:lnTo>
                  <a:pt x="2024086" y="2502734"/>
                </a:lnTo>
                <a:lnTo>
                  <a:pt x="2024086"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6165792" y="4339211"/>
            <a:ext cx="1665479" cy="1603024"/>
          </a:xfrm>
          <a:custGeom>
            <a:avLst/>
            <a:gdLst/>
            <a:ahLst/>
            <a:cxnLst/>
            <a:rect r="r" b="b" t="t" l="l"/>
            <a:pathLst>
              <a:path h="1603024" w="1665479">
                <a:moveTo>
                  <a:pt x="0" y="0"/>
                </a:moveTo>
                <a:lnTo>
                  <a:pt x="1665480" y="0"/>
                </a:lnTo>
                <a:lnTo>
                  <a:pt x="1665480" y="1603024"/>
                </a:lnTo>
                <a:lnTo>
                  <a:pt x="0" y="16030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9695984" y="4256542"/>
            <a:ext cx="629470" cy="629470"/>
          </a:xfrm>
          <a:custGeom>
            <a:avLst/>
            <a:gdLst/>
            <a:ahLst/>
            <a:cxnLst/>
            <a:rect r="r" b="b" t="t" l="l"/>
            <a:pathLst>
              <a:path h="629470" w="629470">
                <a:moveTo>
                  <a:pt x="0" y="0"/>
                </a:moveTo>
                <a:lnTo>
                  <a:pt x="629470" y="0"/>
                </a:lnTo>
                <a:lnTo>
                  <a:pt x="629470" y="629470"/>
                </a:lnTo>
                <a:lnTo>
                  <a:pt x="0" y="6294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9663143" y="5334525"/>
            <a:ext cx="662312" cy="662312"/>
          </a:xfrm>
          <a:custGeom>
            <a:avLst/>
            <a:gdLst/>
            <a:ahLst/>
            <a:cxnLst/>
            <a:rect r="r" b="b" t="t" l="l"/>
            <a:pathLst>
              <a:path h="662312" w="662312">
                <a:moveTo>
                  <a:pt x="0" y="0"/>
                </a:moveTo>
                <a:lnTo>
                  <a:pt x="662311" y="0"/>
                </a:lnTo>
                <a:lnTo>
                  <a:pt x="662311" y="662311"/>
                </a:lnTo>
                <a:lnTo>
                  <a:pt x="0" y="66231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9630472" y="6450153"/>
            <a:ext cx="694982" cy="694982"/>
          </a:xfrm>
          <a:custGeom>
            <a:avLst/>
            <a:gdLst/>
            <a:ahLst/>
            <a:cxnLst/>
            <a:rect r="r" b="b" t="t" l="l"/>
            <a:pathLst>
              <a:path h="694982" w="694982">
                <a:moveTo>
                  <a:pt x="0" y="0"/>
                </a:moveTo>
                <a:lnTo>
                  <a:pt x="694982" y="0"/>
                </a:lnTo>
                <a:lnTo>
                  <a:pt x="694982" y="694983"/>
                </a:lnTo>
                <a:lnTo>
                  <a:pt x="0" y="69498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AutoShape 17" id="17"/>
          <p:cNvSpPr/>
          <p:nvPr/>
        </p:nvSpPr>
        <p:spPr>
          <a:xfrm>
            <a:off x="9695984" y="5142058"/>
            <a:ext cx="6021323" cy="0"/>
          </a:xfrm>
          <a:prstGeom prst="line">
            <a:avLst/>
          </a:prstGeom>
          <a:ln cap="flat" w="9525">
            <a:solidFill>
              <a:srgbClr val="FFF9F4"/>
            </a:solidFill>
            <a:prstDash val="solid"/>
            <a:headEnd type="none" len="sm" w="sm"/>
            <a:tailEnd type="none" len="sm" w="sm"/>
          </a:ln>
        </p:spPr>
      </p:sp>
      <p:sp>
        <p:nvSpPr>
          <p:cNvPr name="AutoShape 18" id="18"/>
          <p:cNvSpPr/>
          <p:nvPr/>
        </p:nvSpPr>
        <p:spPr>
          <a:xfrm flipV="true">
            <a:off x="9695984" y="6236188"/>
            <a:ext cx="6021323" cy="0"/>
          </a:xfrm>
          <a:prstGeom prst="line">
            <a:avLst/>
          </a:prstGeom>
          <a:ln cap="flat" w="9525">
            <a:solidFill>
              <a:srgbClr val="FFF9F4"/>
            </a:solidFill>
            <a:prstDash val="solid"/>
            <a:headEnd type="none" len="sm" w="sm"/>
            <a:tailEnd type="none" len="sm" w="sm"/>
          </a:ln>
        </p:spPr>
      </p:sp>
      <p:sp>
        <p:nvSpPr>
          <p:cNvPr name="AutoShape 19" id="19"/>
          <p:cNvSpPr/>
          <p:nvPr/>
        </p:nvSpPr>
        <p:spPr>
          <a:xfrm flipV="true">
            <a:off x="9695984" y="7330319"/>
            <a:ext cx="6021323" cy="0"/>
          </a:xfrm>
          <a:prstGeom prst="line">
            <a:avLst/>
          </a:prstGeom>
          <a:ln cap="flat" w="9525">
            <a:solidFill>
              <a:srgbClr val="FFF9F4"/>
            </a:solidFill>
            <a:prstDash val="solid"/>
            <a:headEnd type="none" len="sm" w="sm"/>
            <a:tailEnd type="none" len="sm" w="sm"/>
          </a:ln>
        </p:spPr>
      </p:sp>
      <p:sp>
        <p:nvSpPr>
          <p:cNvPr name="Freeform 20" id="20"/>
          <p:cNvSpPr/>
          <p:nvPr/>
        </p:nvSpPr>
        <p:spPr>
          <a:xfrm flipH="false" flipV="false" rot="0">
            <a:off x="9591202" y="7649407"/>
            <a:ext cx="727376" cy="727376"/>
          </a:xfrm>
          <a:custGeom>
            <a:avLst/>
            <a:gdLst/>
            <a:ahLst/>
            <a:cxnLst/>
            <a:rect r="r" b="b" t="t" l="l"/>
            <a:pathLst>
              <a:path h="727376" w="727376">
                <a:moveTo>
                  <a:pt x="0" y="0"/>
                </a:moveTo>
                <a:lnTo>
                  <a:pt x="727376" y="0"/>
                </a:lnTo>
                <a:lnTo>
                  <a:pt x="727376" y="727375"/>
                </a:lnTo>
                <a:lnTo>
                  <a:pt x="0" y="72737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1" id="21"/>
          <p:cNvSpPr txBox="true"/>
          <p:nvPr/>
        </p:nvSpPr>
        <p:spPr>
          <a:xfrm rot="0">
            <a:off x="10632514" y="4364075"/>
            <a:ext cx="5077917" cy="364019"/>
          </a:xfrm>
          <a:prstGeom prst="rect">
            <a:avLst/>
          </a:prstGeom>
        </p:spPr>
        <p:txBody>
          <a:bodyPr anchor="t" rtlCol="false" tIns="0" lIns="0" bIns="0" rIns="0">
            <a:spAutoFit/>
          </a:bodyPr>
          <a:lstStyle/>
          <a:p>
            <a:pPr algn="l">
              <a:lnSpc>
                <a:spcPts val="2603"/>
              </a:lnSpc>
            </a:pPr>
            <a:r>
              <a:rPr lang="en-US" sz="2433">
                <a:solidFill>
                  <a:srgbClr val="FFFFFF"/>
                </a:solidFill>
                <a:latin typeface="Poppins Light"/>
                <a:ea typeface="Poppins Light"/>
                <a:cs typeface="Poppins Light"/>
                <a:sym typeface="Poppins Light"/>
                <a:hlinkClick r:id="rId18" tooltip="http://www.xinzex.com"/>
              </a:rPr>
              <a:t>www.xinzex.com</a:t>
            </a:r>
          </a:p>
        </p:txBody>
      </p:sp>
      <p:sp>
        <p:nvSpPr>
          <p:cNvPr name="TextBox 22" id="22"/>
          <p:cNvSpPr txBox="true"/>
          <p:nvPr/>
        </p:nvSpPr>
        <p:spPr>
          <a:xfrm rot="0">
            <a:off x="10632514" y="5458478"/>
            <a:ext cx="5077917" cy="364019"/>
          </a:xfrm>
          <a:prstGeom prst="rect">
            <a:avLst/>
          </a:prstGeom>
        </p:spPr>
        <p:txBody>
          <a:bodyPr anchor="t" rtlCol="false" tIns="0" lIns="0" bIns="0" rIns="0">
            <a:spAutoFit/>
          </a:bodyPr>
          <a:lstStyle/>
          <a:p>
            <a:pPr algn="l">
              <a:lnSpc>
                <a:spcPts val="2603"/>
              </a:lnSpc>
            </a:pPr>
            <a:r>
              <a:rPr lang="en-US" sz="2433">
                <a:solidFill>
                  <a:srgbClr val="FFFFFF"/>
                </a:solidFill>
                <a:latin typeface="Poppins Light"/>
                <a:ea typeface="Poppins Light"/>
                <a:cs typeface="Poppins Light"/>
                <a:sym typeface="Poppins Light"/>
                <a:hlinkClick r:id="rId19" tooltip="tel:+18889101010"/>
              </a:rPr>
              <a:t>+1 8889 10 10 10</a:t>
            </a:r>
          </a:p>
        </p:txBody>
      </p:sp>
      <p:sp>
        <p:nvSpPr>
          <p:cNvPr name="TextBox 23" id="23"/>
          <p:cNvSpPr txBox="true"/>
          <p:nvPr/>
        </p:nvSpPr>
        <p:spPr>
          <a:xfrm rot="0">
            <a:off x="10632514" y="6590442"/>
            <a:ext cx="5077917" cy="364019"/>
          </a:xfrm>
          <a:prstGeom prst="rect">
            <a:avLst/>
          </a:prstGeom>
        </p:spPr>
        <p:txBody>
          <a:bodyPr anchor="t" rtlCol="false" tIns="0" lIns="0" bIns="0" rIns="0">
            <a:spAutoFit/>
          </a:bodyPr>
          <a:lstStyle/>
          <a:p>
            <a:pPr algn="l">
              <a:lnSpc>
                <a:spcPts val="2603"/>
              </a:lnSpc>
            </a:pPr>
            <a:r>
              <a:rPr lang="en-US" sz="2433">
                <a:solidFill>
                  <a:srgbClr val="FFFFFF"/>
                </a:solidFill>
                <a:latin typeface="Poppins Light"/>
                <a:ea typeface="Poppins Light"/>
                <a:cs typeface="Poppins Light"/>
                <a:sym typeface="Poppins Light"/>
                <a:hlinkClick r:id="rId20" tooltip="mailto:support@xinzex.com"/>
              </a:rPr>
              <a:t>support@xinzex.com</a:t>
            </a:r>
          </a:p>
        </p:txBody>
      </p:sp>
      <p:sp>
        <p:nvSpPr>
          <p:cNvPr name="TextBox 24" id="24"/>
          <p:cNvSpPr txBox="true"/>
          <p:nvPr/>
        </p:nvSpPr>
        <p:spPr>
          <a:xfrm rot="0">
            <a:off x="10632514" y="7669160"/>
            <a:ext cx="7477258" cy="687869"/>
          </a:xfrm>
          <a:prstGeom prst="rect">
            <a:avLst/>
          </a:prstGeom>
        </p:spPr>
        <p:txBody>
          <a:bodyPr anchor="t" rtlCol="false" tIns="0" lIns="0" bIns="0" rIns="0">
            <a:spAutoFit/>
          </a:bodyPr>
          <a:lstStyle/>
          <a:p>
            <a:pPr algn="l">
              <a:lnSpc>
                <a:spcPts val="2603"/>
              </a:lnSpc>
            </a:pPr>
            <a:r>
              <a:rPr lang="en-US" sz="2433">
                <a:solidFill>
                  <a:srgbClr val="FFFFFF"/>
                </a:solidFill>
                <a:latin typeface="Poppins Light"/>
                <a:ea typeface="Poppins Light"/>
                <a:cs typeface="Poppins Light"/>
                <a:sym typeface="Poppins Light"/>
              </a:rPr>
              <a:t>651 N Broad st, Suite 206 </a:t>
            </a:r>
          </a:p>
          <a:p>
            <a:pPr algn="l">
              <a:lnSpc>
                <a:spcPts val="2603"/>
              </a:lnSpc>
            </a:pPr>
            <a:r>
              <a:rPr lang="en-US" sz="2433">
                <a:solidFill>
                  <a:srgbClr val="FFFFFF"/>
                </a:solidFill>
                <a:latin typeface="Poppins Light"/>
                <a:ea typeface="Poppins Light"/>
                <a:cs typeface="Poppins Light"/>
                <a:sym typeface="Poppins Light"/>
              </a:rPr>
              <a:t>Middletown, DE 19709</a:t>
            </a:r>
          </a:p>
        </p:txBody>
      </p:sp>
      <p:sp>
        <p:nvSpPr>
          <p:cNvPr name="Freeform 25" id="25"/>
          <p:cNvSpPr/>
          <p:nvPr/>
        </p:nvSpPr>
        <p:spPr>
          <a:xfrm flipH="false" flipV="false" rot="0">
            <a:off x="259052" y="0"/>
            <a:ext cx="2982832" cy="1557701"/>
          </a:xfrm>
          <a:custGeom>
            <a:avLst/>
            <a:gdLst/>
            <a:ahLst/>
            <a:cxnLst/>
            <a:rect r="r" b="b" t="t" l="l"/>
            <a:pathLst>
              <a:path h="1557701" w="2982832">
                <a:moveTo>
                  <a:pt x="0" y="0"/>
                </a:moveTo>
                <a:lnTo>
                  <a:pt x="2982832" y="0"/>
                </a:lnTo>
                <a:lnTo>
                  <a:pt x="2982832" y="1557701"/>
                </a:lnTo>
                <a:lnTo>
                  <a:pt x="0" y="1557701"/>
                </a:lnTo>
                <a:lnTo>
                  <a:pt x="0" y="0"/>
                </a:lnTo>
                <a:close/>
              </a:path>
            </a:pathLst>
          </a:custGeom>
          <a:blipFill>
            <a:blip r:embed="rId21"/>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DAHCa5st_go</dc:identifier>
  <dcterms:modified xsi:type="dcterms:W3CDTF">2011-08-01T06:04:30Z</dcterms:modified>
  <cp:revision>1</cp:revision>
  <dc:title>Payment Have Never Been Easier.</dc:title>
</cp:coreProperties>
</file>